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451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the Brand vs Competitor Analysis assignment comparing Zomato and Swiggy. It states the student's name, internship organisation, and the HR coordinator this is submitted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Zomato began as a restaurant-discovery site in 2008, giving it a dining-out heritage Swiggy never built. Swiggy, delivery-first since 2014, has instead pushed hardest into quick commerce through Instamart. Both are now publicly listed diversified platforms.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Zomato's persona is someone deciding what to eat, so discovery content keeps them engaged daily. Swiggy's persona has already decided and just wants speed, so Swiggy differentiates on execution and category breadth rather than content.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brands are marketing-forward on the same channels, but their tone is deliberately different: Zomato sells food culture and discovery, Swiggy sells speed and convenience. Sponsorship strategy also differs, with Swiggy leaning harder into IPL for mass reach.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structures are close to identical across both platforms; the real differentiation is in membership value proposition. The SWOT snapshot shows Zomato's brand and diversification strength against Swiggy's operational speed, with each brand's weaknesses mirroring the other's strengths.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both brands launch new campaigns every few weeks, this slide highlights the consistent creative pattern behind their campaigns rather than one dated example, and points to where to check the very latest execution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Zomato wins on overall brand depth and diversification, though Swiggy's execution is sharper in places. The three bonus strategies for Swiggy's CMO all build on capability the brand already has, rather than competing with Zomato on its home turf of content and wit.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summarises the four key learnings from the analysis: matching USP to origin, treating brand voice as a real competitive asset, the value of diversification, and the principle that challengers should compete on their own strengths rather than copying the leader.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4160520"/>
            <a:ext cx="12188952" cy="2697480"/>
          </a:xfrm>
          <a:prstGeom prst="rect">
            <a:avLst/>
          </a:prstGeom>
          <a:solidFill>
            <a:srgbClr val="16204F"/>
          </a:solidFill>
          <a:ln/>
        </p:spPr>
      </p:sp>
      <p:sp>
        <p:nvSpPr>
          <p:cNvPr id="3" name="Text 1"/>
          <p:cNvSpPr/>
          <p:nvPr/>
        </p:nvSpPr>
        <p:spPr>
          <a:xfrm>
            <a:off x="731520" y="1371600"/>
            <a:ext cx="10725912"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BRAND VS COMPETITOR ANALYSIS</a:t>
            </a:r>
            <a:endParaRPr lang="en-US" sz="4000" dirty="0"/>
          </a:p>
        </p:txBody>
      </p:sp>
      <p:sp>
        <p:nvSpPr>
          <p:cNvPr id="4" name="Text 2"/>
          <p:cNvSpPr/>
          <p:nvPr/>
        </p:nvSpPr>
        <p:spPr>
          <a:xfrm>
            <a:off x="731520" y="2194560"/>
            <a:ext cx="10725912" cy="548640"/>
          </a:xfrm>
          <a:prstGeom prst="rect">
            <a:avLst/>
          </a:prstGeom>
          <a:noFill/>
          <a:ln/>
        </p:spPr>
        <p:txBody>
          <a:bodyPr wrap="square"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A Digital Marketing Perspective</a:t>
            </a:r>
            <a:endParaRPr lang="en-US" sz="1800" dirty="0"/>
          </a:p>
        </p:txBody>
      </p:sp>
      <p:sp>
        <p:nvSpPr>
          <p:cNvPr id="5" name="Shape 3"/>
          <p:cNvSpPr/>
          <p:nvPr/>
        </p:nvSpPr>
        <p:spPr>
          <a:xfrm>
            <a:off x="3108960" y="3063240"/>
            <a:ext cx="2377440" cy="822960"/>
          </a:xfrm>
          <a:prstGeom prst="roundRect">
            <a:avLst>
              <a:gd name="adj" fmla="val 8889"/>
            </a:avLst>
          </a:prstGeom>
          <a:solidFill>
            <a:srgbClr val="CB202D"/>
          </a:solidFill>
          <a:ln/>
        </p:spPr>
      </p:sp>
      <p:sp>
        <p:nvSpPr>
          <p:cNvPr id="6" name="Text 4"/>
          <p:cNvSpPr/>
          <p:nvPr/>
        </p:nvSpPr>
        <p:spPr>
          <a:xfrm>
            <a:off x="3108960" y="3063240"/>
            <a:ext cx="237744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zomato</a:t>
            </a:r>
            <a:endParaRPr lang="en-US" sz="2000" dirty="0"/>
          </a:p>
        </p:txBody>
      </p:sp>
      <p:sp>
        <p:nvSpPr>
          <p:cNvPr id="7" name="Text 5"/>
          <p:cNvSpPr/>
          <p:nvPr/>
        </p:nvSpPr>
        <p:spPr>
          <a:xfrm>
            <a:off x="5623560" y="3063240"/>
            <a:ext cx="914400" cy="822960"/>
          </a:xfrm>
          <a:prstGeom prst="rect">
            <a:avLst/>
          </a:prstGeom>
          <a:noFill/>
          <a:ln/>
        </p:spPr>
        <p:txBody>
          <a:bodyPr wrap="square" rtlCol="0" anchor="ctr"/>
          <a:lstStyle/>
          <a:p>
            <a:pPr marL="0" indent="0" algn="ctr">
              <a:buNone/>
            </a:pPr>
            <a:r>
              <a:rPr lang="en-US" sz="2200" b="1" dirty="0">
                <a:solidFill>
                  <a:srgbClr val="CADCFC"/>
                </a:solidFill>
                <a:latin typeface="Cambria" pitchFamily="34" charset="0"/>
                <a:ea typeface="Cambria" pitchFamily="34" charset="-122"/>
                <a:cs typeface="Cambria" pitchFamily="34" charset="-120"/>
              </a:rPr>
              <a:t>vs</a:t>
            </a:r>
            <a:endParaRPr lang="en-US" sz="2200" dirty="0"/>
          </a:p>
        </p:txBody>
      </p:sp>
      <p:sp>
        <p:nvSpPr>
          <p:cNvPr id="8" name="Shape 6"/>
          <p:cNvSpPr/>
          <p:nvPr/>
        </p:nvSpPr>
        <p:spPr>
          <a:xfrm>
            <a:off x="6675120" y="3063240"/>
            <a:ext cx="2377440" cy="822960"/>
          </a:xfrm>
          <a:prstGeom prst="roundRect">
            <a:avLst>
              <a:gd name="adj" fmla="val 8889"/>
            </a:avLst>
          </a:prstGeom>
          <a:solidFill>
            <a:srgbClr val="FC8019"/>
          </a:solidFill>
          <a:ln/>
        </p:spPr>
      </p:sp>
      <p:sp>
        <p:nvSpPr>
          <p:cNvPr id="9" name="Text 7"/>
          <p:cNvSpPr/>
          <p:nvPr/>
        </p:nvSpPr>
        <p:spPr>
          <a:xfrm>
            <a:off x="6675120" y="3063240"/>
            <a:ext cx="237744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Swiggy</a:t>
            </a:r>
            <a:endParaRPr lang="en-US" sz="2000" dirty="0"/>
          </a:p>
        </p:txBody>
      </p:sp>
      <p:sp>
        <p:nvSpPr>
          <p:cNvPr id="10" name="Text 8"/>
          <p:cNvSpPr/>
          <p:nvPr/>
        </p:nvSpPr>
        <p:spPr>
          <a:xfrm>
            <a:off x="731520" y="4206240"/>
            <a:ext cx="10885092" cy="10515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Prepared By: Bhavika Santosh Bhoir</a:t>
            </a:r>
          </a:p>
          <a:p>
            <a:pPr algn="ctr"/>
            <a:r>
              <a:rPr lang="en-US" sz="1600" b="1" dirty="0">
                <a:solidFill>
                  <a:srgbClr val="FFFFFF"/>
                </a:solidFill>
                <a:latin typeface="Calibri" pitchFamily="34" charset="0"/>
                <a:ea typeface="Calibri" pitchFamily="34" charset="-122"/>
                <a:cs typeface="Calibri" pitchFamily="34" charset="-120"/>
              </a:rPr>
              <a:t>Employee Id- </a:t>
            </a:r>
            <a:r>
              <a:rPr lang="en-US" sz="1600" b="1" dirty="0" err="1">
                <a:solidFill>
                  <a:srgbClr val="FFFFFF"/>
                </a:solidFill>
                <a:latin typeface="Calibri" pitchFamily="34" charset="0"/>
                <a:ea typeface="Calibri" pitchFamily="34" charset="-122"/>
                <a:cs typeface="Calibri" pitchFamily="34" charset="-120"/>
              </a:rPr>
              <a:t>SYKT.INT.1823</a:t>
            </a:r>
            <a:endParaRPr lang="en-US" sz="1600" dirty="0"/>
          </a:p>
        </p:txBody>
      </p:sp>
      <p:sp>
        <p:nvSpPr>
          <p:cNvPr id="11" name="Text 9"/>
          <p:cNvSpPr/>
          <p:nvPr/>
        </p:nvSpPr>
        <p:spPr>
          <a:xfrm>
            <a:off x="731520" y="4937760"/>
            <a:ext cx="10725912" cy="36576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Digital Marketing Internship  |  Sanyukt Organisation</a:t>
            </a:r>
            <a:endParaRPr lang="en-US" sz="1300" dirty="0"/>
          </a:p>
        </p:txBody>
      </p:sp>
      <p:sp>
        <p:nvSpPr>
          <p:cNvPr id="12" name="Text 10"/>
          <p:cNvSpPr/>
          <p:nvPr/>
        </p:nvSpPr>
        <p:spPr>
          <a:xfrm>
            <a:off x="731520" y="5257800"/>
            <a:ext cx="10725912" cy="365760"/>
          </a:xfrm>
          <a:prstGeom prst="rect">
            <a:avLst/>
          </a:prstGeom>
          <a:noFill/>
          <a:ln/>
        </p:spPr>
        <p:txBody>
          <a:bodyPr wrap="square" rtlCol="0" anchor="ctr"/>
          <a:lstStyle/>
          <a:p>
            <a:pPr marL="0" indent="0" algn="ctr">
              <a:buNone/>
            </a:pPr>
            <a:r>
              <a:rPr lang="en-US" sz="1200" dirty="0">
                <a:solidFill>
                  <a:srgbClr val="9AAAD8"/>
                </a:solidFill>
                <a:latin typeface="Calibri" pitchFamily="34" charset="0"/>
                <a:ea typeface="Calibri" pitchFamily="34" charset="-122"/>
                <a:cs typeface="Calibri" pitchFamily="34" charset="-120"/>
              </a:rPr>
              <a:t>Submitted to Divyanshi Katiyar, HR Coordinator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Brand Overview</a:t>
            </a:r>
            <a:endParaRPr lang="en-US" sz="3000" dirty="0"/>
          </a:p>
        </p:txBody>
      </p:sp>
      <p:sp>
        <p:nvSpPr>
          <p:cNvPr id="3" name="Text 1"/>
          <p:cNvSpPr/>
          <p:nvPr/>
        </p:nvSpPr>
        <p:spPr>
          <a:xfrm>
            <a:off x="548640" y="868680"/>
            <a:ext cx="11064240" cy="365760"/>
          </a:xfrm>
          <a:prstGeom prst="rect">
            <a:avLst/>
          </a:prstGeom>
          <a:noFill/>
          <a:ln/>
        </p:spPr>
        <p:txBody>
          <a:bodyPr wrap="square" rtlCol="0" anchor="ctr"/>
          <a:lstStyle/>
          <a:p>
            <a:pPr marL="0" indent="0">
              <a:buNone/>
            </a:pPr>
            <a:r>
              <a:rPr lang="en-US" sz="1400" i="1" dirty="0">
                <a:solidFill>
                  <a:srgbClr val="6B6F76"/>
                </a:solidFill>
                <a:latin typeface="Calibri" pitchFamily="34" charset="0"/>
                <a:ea typeface="Calibri" pitchFamily="34" charset="-122"/>
                <a:cs typeface="Calibri" pitchFamily="34" charset="-120"/>
              </a:rPr>
              <a:t>Origins, ownership, and business model at a glance</a:t>
            </a:r>
            <a:endParaRPr lang="en-US" sz="1400" dirty="0"/>
          </a:p>
        </p:txBody>
      </p:sp>
      <p:sp>
        <p:nvSpPr>
          <p:cNvPr id="4" name="Text 2"/>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2</a:t>
            </a:r>
            <a:endParaRPr lang="en-US" sz="900" dirty="0"/>
          </a:p>
        </p:txBody>
      </p:sp>
      <p:sp>
        <p:nvSpPr>
          <p:cNvPr id="5" name="Shape 3"/>
          <p:cNvSpPr/>
          <p:nvPr/>
        </p:nvSpPr>
        <p:spPr>
          <a:xfrm>
            <a:off x="548640" y="1463040"/>
            <a:ext cx="5074920" cy="502920"/>
          </a:xfrm>
          <a:prstGeom prst="roundRect">
            <a:avLst>
              <a:gd name="adj" fmla="val 14545"/>
            </a:avLst>
          </a:prstGeom>
          <a:solidFill>
            <a:srgbClr val="CB202D"/>
          </a:solidFill>
          <a:ln/>
        </p:spPr>
      </p:sp>
      <p:sp>
        <p:nvSpPr>
          <p:cNvPr id="6" name="Text 4"/>
          <p:cNvSpPr/>
          <p:nvPr/>
        </p:nvSpPr>
        <p:spPr>
          <a:xfrm>
            <a:off x="548640" y="1463040"/>
            <a:ext cx="5074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ZOMATO</a:t>
            </a:r>
            <a:endParaRPr lang="en-US" sz="2000" dirty="0"/>
          </a:p>
        </p:txBody>
      </p:sp>
      <p:sp>
        <p:nvSpPr>
          <p:cNvPr id="7" name="Shape 5"/>
          <p:cNvSpPr/>
          <p:nvPr/>
        </p:nvSpPr>
        <p:spPr>
          <a:xfrm>
            <a:off x="5989320" y="1463040"/>
            <a:ext cx="5074920" cy="502920"/>
          </a:xfrm>
          <a:prstGeom prst="roundRect">
            <a:avLst>
              <a:gd name="adj" fmla="val 14545"/>
            </a:avLst>
          </a:prstGeom>
          <a:solidFill>
            <a:srgbClr val="FC8019"/>
          </a:solidFill>
          <a:ln/>
        </p:spPr>
      </p:sp>
      <p:sp>
        <p:nvSpPr>
          <p:cNvPr id="8" name="Text 6"/>
          <p:cNvSpPr/>
          <p:nvPr/>
        </p:nvSpPr>
        <p:spPr>
          <a:xfrm>
            <a:off x="5989320" y="1463040"/>
            <a:ext cx="5074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SWIGGY</a:t>
            </a:r>
            <a:endParaRPr lang="en-US" sz="2000" dirty="0"/>
          </a:p>
        </p:txBody>
      </p:sp>
      <p:sp>
        <p:nvSpPr>
          <p:cNvPr id="9" name="Text 7"/>
          <p:cNvSpPr/>
          <p:nvPr/>
        </p:nvSpPr>
        <p:spPr>
          <a:xfrm>
            <a:off x="548640" y="2148840"/>
            <a:ext cx="5074920" cy="3200400"/>
          </a:xfrm>
          <a:prstGeom prst="rect">
            <a:avLst/>
          </a:prstGeom>
          <a:noFill/>
          <a:ln/>
        </p:spPr>
        <p:txBody>
          <a:bodyPr wrap="square" rtlCol="0" anchor="t"/>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Founded 2008 (as Foodiebay), renamed Zomato in 2010</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Founders: Deepinder Goyal, Pankaj Chaddah</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HQ: Gurugram, Haryana</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Parent: Eternal Ltd. (listed, NSE/BSE)</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Model: delivery + dining discovery + Hyperpure (B2B) + Blinkit (quick commerce)</a:t>
            </a:r>
            <a:endParaRPr lang="en-US" sz="1400" dirty="0"/>
          </a:p>
        </p:txBody>
      </p:sp>
      <p:sp>
        <p:nvSpPr>
          <p:cNvPr id="10" name="Text 8"/>
          <p:cNvSpPr/>
          <p:nvPr/>
        </p:nvSpPr>
        <p:spPr>
          <a:xfrm>
            <a:off x="5989320" y="2148840"/>
            <a:ext cx="5074920" cy="3200400"/>
          </a:xfrm>
          <a:prstGeom prst="rect">
            <a:avLst/>
          </a:prstGeom>
          <a:noFill/>
          <a:ln/>
        </p:spPr>
        <p:txBody>
          <a:bodyPr wrap="square" rtlCol="0" anchor="t"/>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Founded 2014</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Founders: Sriharsha Majety, Nandan Reddy, Rahul Jaimini</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HQ: Bengaluru, Karnataka</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Parent: Swiggy Ltd. (listed, NSE/BSE)</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Model: delivery + Instamart (quick commerce) + Genie (pickup-drop)</a:t>
            </a:r>
            <a:endParaRPr lang="en-US" sz="1400" dirty="0"/>
          </a:p>
        </p:txBody>
      </p:sp>
      <p:sp>
        <p:nvSpPr>
          <p:cNvPr id="11" name="Shape 9"/>
          <p:cNvSpPr/>
          <p:nvPr/>
        </p:nvSpPr>
        <p:spPr>
          <a:xfrm>
            <a:off x="548640" y="5532120"/>
            <a:ext cx="10515600" cy="868680"/>
          </a:xfrm>
          <a:prstGeom prst="roundRect">
            <a:avLst>
              <a:gd name="adj" fmla="val 8421"/>
            </a:avLst>
          </a:prstGeom>
          <a:solidFill>
            <a:srgbClr val="F4F5F9"/>
          </a:solidFill>
          <a:ln/>
        </p:spPr>
      </p:sp>
      <p:sp>
        <p:nvSpPr>
          <p:cNvPr id="12" name="Text 10"/>
          <p:cNvSpPr/>
          <p:nvPr/>
        </p:nvSpPr>
        <p:spPr>
          <a:xfrm>
            <a:off x="777240" y="5623560"/>
            <a:ext cx="10058400" cy="685800"/>
          </a:xfrm>
          <a:prstGeom prst="rect">
            <a:avLst/>
          </a:prstGeom>
          <a:noFill/>
          <a:ln/>
        </p:spPr>
        <p:txBody>
          <a:bodyPr wrap="square"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Market position: Zomato leads on brand depth via its discovery-and-dining heritage; Swiggy leads on operational speed and Instamart momentum as a category challenger.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Target Audience &amp; USP</a:t>
            </a:r>
            <a:endParaRPr lang="en-US" sz="3000" dirty="0"/>
          </a:p>
        </p:txBody>
      </p:sp>
      <p:sp>
        <p:nvSpPr>
          <p:cNvPr id="3" name="Text 1"/>
          <p:cNvSpPr/>
          <p:nvPr/>
        </p:nvSpPr>
        <p:spPr>
          <a:xfrm>
            <a:off x="548640" y="868680"/>
            <a:ext cx="11064240" cy="365760"/>
          </a:xfrm>
          <a:prstGeom prst="rect">
            <a:avLst/>
          </a:prstGeom>
          <a:noFill/>
          <a:ln/>
        </p:spPr>
        <p:txBody>
          <a:bodyPr wrap="square" rtlCol="0" anchor="ctr"/>
          <a:lstStyle/>
          <a:p>
            <a:pPr marL="0" indent="0">
              <a:buNone/>
            </a:pPr>
            <a:r>
              <a:rPr lang="en-US" sz="1400" i="1" dirty="0">
                <a:solidFill>
                  <a:srgbClr val="6B6F76"/>
                </a:solidFill>
                <a:latin typeface="Calibri" pitchFamily="34" charset="0"/>
                <a:ea typeface="Calibri" pitchFamily="34" charset="-122"/>
                <a:cs typeface="Calibri" pitchFamily="34" charset="-120"/>
              </a:rPr>
              <a:t>Who they serve, and why each brand wins that customer</a:t>
            </a:r>
            <a:endParaRPr lang="en-US" sz="1400" dirty="0"/>
          </a:p>
        </p:txBody>
      </p:sp>
      <p:sp>
        <p:nvSpPr>
          <p:cNvPr id="4" name="Text 2"/>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3</a:t>
            </a:r>
            <a:endParaRPr lang="en-US" sz="900" dirty="0"/>
          </a:p>
        </p:txBody>
      </p:sp>
      <p:sp>
        <p:nvSpPr>
          <p:cNvPr id="5" name="Shape 3"/>
          <p:cNvSpPr/>
          <p:nvPr/>
        </p:nvSpPr>
        <p:spPr>
          <a:xfrm>
            <a:off x="548640" y="1554480"/>
            <a:ext cx="5074920" cy="1737360"/>
          </a:xfrm>
          <a:prstGeom prst="roundRect">
            <a:avLst>
              <a:gd name="adj" fmla="val 5263"/>
            </a:avLst>
          </a:prstGeom>
          <a:solidFill>
            <a:srgbClr val="FDECEC"/>
          </a:solidFill>
          <a:ln/>
        </p:spPr>
      </p:sp>
      <p:sp>
        <p:nvSpPr>
          <p:cNvPr id="6" name="Shape 4"/>
          <p:cNvSpPr/>
          <p:nvPr/>
        </p:nvSpPr>
        <p:spPr>
          <a:xfrm>
            <a:off x="777240" y="1783080"/>
            <a:ext cx="640080" cy="640080"/>
          </a:xfrm>
          <a:prstGeom prst="ellipse">
            <a:avLst/>
          </a:prstGeom>
          <a:solidFill>
            <a:srgbClr val="CB202D"/>
          </a:solidFill>
          <a:ln/>
        </p:spPr>
      </p:sp>
      <p:sp>
        <p:nvSpPr>
          <p:cNvPr id="7" name="Text 5"/>
          <p:cNvSpPr/>
          <p:nvPr/>
        </p:nvSpPr>
        <p:spPr>
          <a:xfrm>
            <a:off x="777240" y="1783080"/>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Z</a:t>
            </a:r>
            <a:endParaRPr lang="en-US" sz="2200" dirty="0"/>
          </a:p>
        </p:txBody>
      </p:sp>
      <p:sp>
        <p:nvSpPr>
          <p:cNvPr id="8" name="Text 6"/>
          <p:cNvSpPr/>
          <p:nvPr/>
        </p:nvSpPr>
        <p:spPr>
          <a:xfrm>
            <a:off x="1600200" y="1737360"/>
            <a:ext cx="3931920" cy="365760"/>
          </a:xfrm>
          <a:prstGeom prst="rect">
            <a:avLst/>
          </a:prstGeom>
          <a:noFill/>
          <a:ln/>
        </p:spPr>
        <p:txBody>
          <a:bodyPr wrap="square" rtlCol="0" anchor="ctr"/>
          <a:lstStyle/>
          <a:p>
            <a:pPr marL="0" indent="0">
              <a:buNone/>
            </a:pPr>
            <a:r>
              <a:rPr lang="en-US" sz="1600" b="1" dirty="0">
                <a:solidFill>
                  <a:srgbClr val="CB202D"/>
                </a:solidFill>
                <a:latin typeface="Cambria" pitchFamily="34" charset="0"/>
                <a:ea typeface="Cambria" pitchFamily="34" charset="-122"/>
                <a:cs typeface="Cambria" pitchFamily="34" charset="-120"/>
              </a:rPr>
              <a:t>Zomato — "The Explorer"</a:t>
            </a:r>
            <a:endParaRPr lang="en-US" sz="1600" dirty="0"/>
          </a:p>
        </p:txBody>
      </p:sp>
      <p:sp>
        <p:nvSpPr>
          <p:cNvPr id="9" name="Text 7"/>
          <p:cNvSpPr/>
          <p:nvPr/>
        </p:nvSpPr>
        <p:spPr>
          <a:xfrm>
            <a:off x="1600200" y="2148840"/>
            <a:ext cx="3931920" cy="10058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18–35, urban, deciding what and where to eat. Influenced by ratings, reviews, and dining-out discovery.</a:t>
            </a:r>
            <a:endParaRPr lang="en-US" sz="1250" dirty="0"/>
          </a:p>
        </p:txBody>
      </p:sp>
      <p:sp>
        <p:nvSpPr>
          <p:cNvPr id="10" name="Shape 8"/>
          <p:cNvSpPr/>
          <p:nvPr/>
        </p:nvSpPr>
        <p:spPr>
          <a:xfrm>
            <a:off x="5989320" y="1554480"/>
            <a:ext cx="5074920" cy="1737360"/>
          </a:xfrm>
          <a:prstGeom prst="roundRect">
            <a:avLst>
              <a:gd name="adj" fmla="val 5263"/>
            </a:avLst>
          </a:prstGeom>
          <a:solidFill>
            <a:srgbClr val="FFF1E3"/>
          </a:solidFill>
          <a:ln/>
        </p:spPr>
      </p:sp>
      <p:sp>
        <p:nvSpPr>
          <p:cNvPr id="11" name="Shape 9"/>
          <p:cNvSpPr/>
          <p:nvPr/>
        </p:nvSpPr>
        <p:spPr>
          <a:xfrm>
            <a:off x="6217920" y="1783080"/>
            <a:ext cx="640080" cy="640080"/>
          </a:xfrm>
          <a:prstGeom prst="ellipse">
            <a:avLst/>
          </a:prstGeom>
          <a:solidFill>
            <a:srgbClr val="FC8019"/>
          </a:solidFill>
          <a:ln/>
        </p:spPr>
      </p:sp>
      <p:sp>
        <p:nvSpPr>
          <p:cNvPr id="12" name="Text 10"/>
          <p:cNvSpPr/>
          <p:nvPr/>
        </p:nvSpPr>
        <p:spPr>
          <a:xfrm>
            <a:off x="6217920" y="1783080"/>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S</a:t>
            </a:r>
            <a:endParaRPr lang="en-US" sz="2200" dirty="0"/>
          </a:p>
        </p:txBody>
      </p:sp>
      <p:sp>
        <p:nvSpPr>
          <p:cNvPr id="13" name="Text 11"/>
          <p:cNvSpPr/>
          <p:nvPr/>
        </p:nvSpPr>
        <p:spPr>
          <a:xfrm>
            <a:off x="7040880" y="1737360"/>
            <a:ext cx="3931920" cy="365760"/>
          </a:xfrm>
          <a:prstGeom prst="rect">
            <a:avLst/>
          </a:prstGeom>
          <a:noFill/>
          <a:ln/>
        </p:spPr>
        <p:txBody>
          <a:bodyPr wrap="square" rtlCol="0" anchor="ctr"/>
          <a:lstStyle/>
          <a:p>
            <a:pPr marL="0" indent="0">
              <a:buNone/>
            </a:pPr>
            <a:r>
              <a:rPr lang="en-US" sz="1600" b="1" dirty="0">
                <a:solidFill>
                  <a:srgbClr val="FC8019"/>
                </a:solidFill>
                <a:latin typeface="Cambria" pitchFamily="34" charset="0"/>
                <a:ea typeface="Cambria" pitchFamily="34" charset="-122"/>
                <a:cs typeface="Cambria" pitchFamily="34" charset="-120"/>
              </a:rPr>
              <a:t>Swiggy — "The Optimiser"</a:t>
            </a:r>
            <a:endParaRPr lang="en-US" sz="1600" dirty="0"/>
          </a:p>
        </p:txBody>
      </p:sp>
      <p:sp>
        <p:nvSpPr>
          <p:cNvPr id="14" name="Text 12"/>
          <p:cNvSpPr/>
          <p:nvPr/>
        </p:nvSpPr>
        <p:spPr>
          <a:xfrm>
            <a:off x="7040880" y="2148840"/>
            <a:ext cx="3931920" cy="10058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22–40, urban professionals &amp; young families who've already decided and want it fast, across food, grocery, and errands.</a:t>
            </a:r>
            <a:endParaRPr lang="en-US" sz="1250" dirty="0"/>
          </a:p>
        </p:txBody>
      </p:sp>
      <p:sp>
        <p:nvSpPr>
          <p:cNvPr id="15" name="Text 13"/>
          <p:cNvSpPr/>
          <p:nvPr/>
        </p:nvSpPr>
        <p:spPr>
          <a:xfrm>
            <a:off x="548640" y="3566160"/>
            <a:ext cx="1051560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UNIQUE SELLING PROPOSITION</a:t>
            </a:r>
            <a:endParaRPr lang="en-US" sz="1400" dirty="0"/>
          </a:p>
        </p:txBody>
      </p:sp>
      <p:sp>
        <p:nvSpPr>
          <p:cNvPr id="16" name="Shape 14"/>
          <p:cNvSpPr/>
          <p:nvPr/>
        </p:nvSpPr>
        <p:spPr>
          <a:xfrm>
            <a:off x="548640" y="3977640"/>
            <a:ext cx="5074920" cy="1920240"/>
          </a:xfrm>
          <a:prstGeom prst="roundRect">
            <a:avLst>
              <a:gd name="adj" fmla="val 3810"/>
            </a:avLst>
          </a:prstGeom>
          <a:solidFill>
            <a:srgbClr val="F4F5F9"/>
          </a:solidFill>
          <a:ln/>
        </p:spPr>
      </p:sp>
      <p:sp>
        <p:nvSpPr>
          <p:cNvPr id="17" name="Text 15"/>
          <p:cNvSpPr/>
          <p:nvPr/>
        </p:nvSpPr>
        <p:spPr>
          <a:xfrm>
            <a:off x="777240" y="4114800"/>
            <a:ext cx="4617720" cy="1645920"/>
          </a:xfrm>
          <a:prstGeom prst="rect">
            <a:avLst/>
          </a:prstGeom>
          <a:noFill/>
          <a:ln/>
        </p:spPr>
        <p:txBody>
          <a:bodyPr wrap="square" rtlCol="0" anchor="t"/>
          <a:lstStyle/>
          <a:p>
            <a:pPr marL="0" indent="0">
              <a:buNone/>
            </a:pPr>
            <a:r>
              <a:rPr lang="en-US" sz="1300" b="1" dirty="0">
                <a:solidFill>
                  <a:srgbClr val="CB202D"/>
                </a:solidFill>
                <a:latin typeface="Calibri" pitchFamily="34" charset="0"/>
                <a:ea typeface="Calibri" pitchFamily="34" charset="-122"/>
                <a:cs typeface="Calibri" pitchFamily="34" charset="-120"/>
              </a:rPr>
              <a:t>Discovery-led food culture: </a:t>
            </a:r>
            <a:r>
              <a:rPr lang="en-US" sz="1300" dirty="0">
                <a:solidFill>
                  <a:srgbClr val="1A1A1A"/>
                </a:solidFill>
                <a:latin typeface="Calibri" pitchFamily="34" charset="0"/>
                <a:ea typeface="Calibri" pitchFamily="34" charset="-122"/>
                <a:cs typeface="Calibri" pitchFamily="34" charset="-120"/>
              </a:rPr>
              <a:t>ratings, reviews, and dining-out content give the app a reason to be opened daily, not just when ordering.</a:t>
            </a:r>
            <a:endParaRPr lang="en-US" sz="1300" dirty="0"/>
          </a:p>
        </p:txBody>
      </p:sp>
      <p:sp>
        <p:nvSpPr>
          <p:cNvPr id="18" name="Shape 16"/>
          <p:cNvSpPr/>
          <p:nvPr/>
        </p:nvSpPr>
        <p:spPr>
          <a:xfrm>
            <a:off x="5989320" y="3977640"/>
            <a:ext cx="5074920" cy="1920240"/>
          </a:xfrm>
          <a:prstGeom prst="roundRect">
            <a:avLst>
              <a:gd name="adj" fmla="val 3810"/>
            </a:avLst>
          </a:prstGeom>
          <a:solidFill>
            <a:srgbClr val="F4F5F9"/>
          </a:solidFill>
          <a:ln/>
        </p:spPr>
      </p:sp>
      <p:sp>
        <p:nvSpPr>
          <p:cNvPr id="19" name="Text 17"/>
          <p:cNvSpPr/>
          <p:nvPr/>
        </p:nvSpPr>
        <p:spPr>
          <a:xfrm>
            <a:off x="6217920" y="4114800"/>
            <a:ext cx="4617720" cy="1645920"/>
          </a:xfrm>
          <a:prstGeom prst="rect">
            <a:avLst/>
          </a:prstGeom>
          <a:noFill/>
          <a:ln/>
        </p:spPr>
        <p:txBody>
          <a:bodyPr wrap="square" rtlCol="0" anchor="t"/>
          <a:lstStyle/>
          <a:p>
            <a:pPr marL="0" indent="0">
              <a:buNone/>
            </a:pPr>
            <a:r>
              <a:rPr lang="en-US" sz="1300" b="1" dirty="0">
                <a:solidFill>
                  <a:srgbClr val="FC8019"/>
                </a:solidFill>
                <a:latin typeface="Calibri" pitchFamily="34" charset="0"/>
                <a:ea typeface="Calibri" pitchFamily="34" charset="-122"/>
                <a:cs typeface="Calibri" pitchFamily="34" charset="-120"/>
              </a:rPr>
              <a:t>Speed + one-app convenience: </a:t>
            </a:r>
            <a:r>
              <a:rPr lang="en-US" sz="1300" dirty="0">
                <a:solidFill>
                  <a:srgbClr val="1A1A1A"/>
                </a:solidFill>
                <a:latin typeface="Calibri" pitchFamily="34" charset="0"/>
                <a:ea typeface="Calibri" pitchFamily="34" charset="-122"/>
                <a:cs typeface="Calibri" pitchFamily="34" charset="-120"/>
              </a:rPr>
              <a:t>food, groceries, and errands unified under one wallet and one fast delivery fleet.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Marketing &amp; Advertising Strategy</a:t>
            </a:r>
            <a:endParaRPr lang="en-US" sz="3000" dirty="0"/>
          </a:p>
        </p:txBody>
      </p:sp>
      <p:sp>
        <p:nvSpPr>
          <p:cNvPr id="3" name="Text 1"/>
          <p:cNvSpPr/>
          <p:nvPr/>
        </p:nvSpPr>
        <p:spPr>
          <a:xfrm>
            <a:off x="548640" y="868680"/>
            <a:ext cx="11064240" cy="365760"/>
          </a:xfrm>
          <a:prstGeom prst="rect">
            <a:avLst/>
          </a:prstGeom>
          <a:noFill/>
          <a:ln/>
        </p:spPr>
        <p:txBody>
          <a:bodyPr wrap="square" rtlCol="0" anchor="ctr"/>
          <a:lstStyle/>
          <a:p>
            <a:pPr marL="0" indent="0">
              <a:buNone/>
            </a:pPr>
            <a:r>
              <a:rPr lang="en-US" sz="1400" i="1" dirty="0">
                <a:solidFill>
                  <a:srgbClr val="6B6F76"/>
                </a:solidFill>
                <a:latin typeface="Calibri" pitchFamily="34" charset="0"/>
                <a:ea typeface="Calibri" pitchFamily="34" charset="-122"/>
                <a:cs typeface="Calibri" pitchFamily="34" charset="-120"/>
              </a:rPr>
              <a:t>Same channels, two very different brand voices</a:t>
            </a:r>
            <a:endParaRPr lang="en-US" sz="1400" dirty="0"/>
          </a:p>
        </p:txBody>
      </p:sp>
      <p:sp>
        <p:nvSpPr>
          <p:cNvPr id="4" name="Text 2"/>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291840"/>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6583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Zomato</a:t>
                      </a:r>
                      <a:endParaRPr lang="en-US" sz="13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CB202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Swiggy</a:t>
                      </a:r>
                      <a:endParaRPr lang="en-US" sz="13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C8019"/>
                    </a:solidFill>
                  </a:tcPr>
                </a:tc>
                <a:extLst>
                  <a:ext uri="{0D108BD9-81ED-4DB2-BD59-A6C34878D82A}">
                    <a16:rowId xmlns:a16="http://schemas.microsoft.com/office/drawing/2014/main" val="10000"/>
                  </a:ext>
                </a:extLst>
              </a:tr>
              <a:tr h="658368">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Social &amp; meme marketing</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Category-defining witty copy on X/Instagram</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Relatable, situational humour on cravings &amp; moods</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Influencer marketing</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Food bloggers &amp; "what I ordered" content</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Lifestyle influencers, Instamart speed challenges</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extLst>
                  <a:ext uri="{0D108BD9-81ED-4DB2-BD59-A6C34878D82A}">
                    <a16:rowId xmlns:a16="http://schemas.microsoft.com/office/drawing/2014/main" val="10002"/>
                  </a:ext>
                </a:extLst>
              </a:tr>
              <a:tr h="658368">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Sponsorships</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Cricket &amp; entertainment tie-ins</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Prominent IPL sponsorship for mass recall</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Retention</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Zomato Gold / District membership</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Swiggy One cross-category membership</a:t>
                      </a:r>
                      <a:endParaRPr lang="en-US" sz="1250" dirty="0">
                        <a:latin typeface="Calibri" charset="0"/>
                        <a:ea typeface="Calibri" charset="0"/>
                        <a:cs typeface="Calibri" charset="0"/>
                      </a:endParaRPr>
                    </a:p>
                  </a:txBody>
                  <a:tcPr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5F9"/>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029200"/>
            <a:ext cx="11091672" cy="1051560"/>
          </a:xfrm>
          <a:prstGeom prst="roundRect">
            <a:avLst>
              <a:gd name="adj" fmla="val 6957"/>
            </a:avLst>
          </a:prstGeom>
          <a:solidFill>
            <a:srgbClr val="F4F5F9"/>
          </a:solidFill>
          <a:ln/>
        </p:spPr>
      </p:sp>
      <p:sp>
        <p:nvSpPr>
          <p:cNvPr id="7" name="Text 4"/>
          <p:cNvSpPr/>
          <p:nvPr/>
        </p:nvSpPr>
        <p:spPr>
          <a:xfrm>
            <a:off x="822960" y="5120640"/>
            <a:ext cx="10515600" cy="868680"/>
          </a:xfrm>
          <a:prstGeom prst="rect">
            <a:avLst/>
          </a:prstGeom>
          <a:noFill/>
          <a:ln/>
        </p:spPr>
        <p:txBody>
          <a:bodyPr wrap="square"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The pattern holds across every channel: Zomato's marketing sells taste, choice, and culture — Swiggy's sells speed, reliability, and convenience.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Pricing Strategy &amp; SWOT</a:t>
            </a:r>
            <a:endParaRPr lang="en-US" sz="3000" dirty="0"/>
          </a:p>
        </p:txBody>
      </p:sp>
      <p:sp>
        <p:nvSpPr>
          <p:cNvPr id="3" name="Text 1"/>
          <p:cNvSpPr/>
          <p:nvPr/>
        </p:nvSpPr>
        <p:spPr>
          <a:xfrm>
            <a:off x="548640" y="868680"/>
            <a:ext cx="11064240" cy="365760"/>
          </a:xfrm>
          <a:prstGeom prst="rect">
            <a:avLst/>
          </a:prstGeom>
          <a:noFill/>
          <a:ln/>
        </p:spPr>
        <p:txBody>
          <a:bodyPr wrap="square" rtlCol="0" anchor="ctr"/>
          <a:lstStyle/>
          <a:p>
            <a:pPr marL="0" indent="0">
              <a:buNone/>
            </a:pPr>
            <a:r>
              <a:rPr lang="en-US" sz="1400" i="1" dirty="0">
                <a:solidFill>
                  <a:srgbClr val="6B6F76"/>
                </a:solidFill>
                <a:latin typeface="Calibri" pitchFamily="34" charset="0"/>
                <a:ea typeface="Calibri" pitchFamily="34" charset="-122"/>
                <a:cs typeface="Calibri" pitchFamily="34" charset="-120"/>
              </a:rPr>
              <a:t>What customers pay, and where each brand stands</a:t>
            </a:r>
            <a:endParaRPr lang="en-US" sz="1400" dirty="0"/>
          </a:p>
        </p:txBody>
      </p:sp>
      <p:sp>
        <p:nvSpPr>
          <p:cNvPr id="4" name="Text 2"/>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5</a:t>
            </a:r>
            <a:endParaRPr lang="en-US" sz="900" dirty="0"/>
          </a:p>
        </p:txBody>
      </p:sp>
      <p:sp>
        <p:nvSpPr>
          <p:cNvPr id="5" name="Text 3"/>
          <p:cNvSpPr/>
          <p:nvPr/>
        </p:nvSpPr>
        <p:spPr>
          <a:xfrm>
            <a:off x="548640" y="1417320"/>
            <a:ext cx="539496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PRICING</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57200">
                <a:tc>
                  <a:txBody>
                    <a:bodyPr/>
                    <a:lstStyle/>
                    <a:p>
                      <a:pPr marL="0" indent="0">
                        <a:buNone/>
                      </a:pPr>
                      <a:endParaRPr lang="en-US" sz="12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Zomato</a:t>
                      </a:r>
                      <a:endParaRPr lang="en-US" sz="11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CB20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Swiggy</a:t>
                      </a:r>
                      <a:endParaRPr lang="en-US" sz="110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C8019"/>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1A1A1A"/>
                          </a:solidFill>
                          <a:latin typeface="Calibri" pitchFamily="34" charset="0"/>
                          <a:ea typeface="Calibri" pitchFamily="34" charset="-122"/>
                          <a:cs typeface="Calibri" pitchFamily="34" charset="-120"/>
                        </a:rPr>
                        <a:t>Membership</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Gold / District</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Swiggy One</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1A1A1A"/>
                          </a:solidFill>
                          <a:latin typeface="Calibri" pitchFamily="34" charset="0"/>
                          <a:ea typeface="Calibri" pitchFamily="34" charset="-122"/>
                          <a:cs typeface="Calibri" pitchFamily="34" charset="-120"/>
                        </a:rPr>
                        <a:t>Value prop</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Better choices &amp; experiences</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Speed &amp; convenience</a:t>
                      </a:r>
                      <a:endParaRPr lang="en-US" sz="1050" dirty="0">
                        <a:latin typeface="Calibri" charset="0"/>
                        <a:ea typeface="Calibri" charset="0"/>
                        <a:cs typeface="Calibri" charset="0"/>
                      </a:endParaRPr>
                    </a:p>
                  </a:txBody>
                  <a:tcP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172200" y="1417320"/>
            <a:ext cx="5468112"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SWOT SNAPSHOT</a:t>
            </a:r>
            <a:endParaRPr lang="en-US" sz="1400" dirty="0"/>
          </a:p>
        </p:txBody>
      </p:sp>
      <p:sp>
        <p:nvSpPr>
          <p:cNvPr id="8" name="Shape 5"/>
          <p:cNvSpPr/>
          <p:nvPr/>
        </p:nvSpPr>
        <p:spPr>
          <a:xfrm>
            <a:off x="6172200" y="1783080"/>
            <a:ext cx="2651760" cy="777240"/>
          </a:xfrm>
          <a:prstGeom prst="roundRect">
            <a:avLst>
              <a:gd name="adj" fmla="val 7059"/>
            </a:avLst>
          </a:prstGeom>
          <a:solidFill>
            <a:srgbClr val="F4F5F9"/>
          </a:solidFill>
          <a:ln/>
        </p:spPr>
      </p:sp>
      <p:sp>
        <p:nvSpPr>
          <p:cNvPr id="9" name="Text 6"/>
          <p:cNvSpPr/>
          <p:nvPr/>
        </p:nvSpPr>
        <p:spPr>
          <a:xfrm>
            <a:off x="6281928" y="1837944"/>
            <a:ext cx="2432304" cy="274320"/>
          </a:xfrm>
          <a:prstGeom prst="rect">
            <a:avLst/>
          </a:prstGeom>
          <a:noFill/>
          <a:ln/>
        </p:spPr>
        <p:txBody>
          <a:bodyPr wrap="square" rtlCol="0" anchor="ctr"/>
          <a:lstStyle/>
          <a:p>
            <a:pPr marL="0" indent="0">
              <a:buNone/>
            </a:pPr>
            <a:r>
              <a:rPr lang="en-US" sz="1150" b="1" dirty="0">
                <a:solidFill>
                  <a:srgbClr val="0E7C4A"/>
                </a:solidFill>
                <a:latin typeface="Calibri" pitchFamily="34" charset="0"/>
                <a:ea typeface="Calibri" pitchFamily="34" charset="-122"/>
                <a:cs typeface="Calibri" pitchFamily="34" charset="-120"/>
              </a:rPr>
              <a:t>Zomato +</a:t>
            </a:r>
            <a:endParaRPr lang="en-US" sz="1150" dirty="0"/>
          </a:p>
        </p:txBody>
      </p:sp>
      <p:sp>
        <p:nvSpPr>
          <p:cNvPr id="10" name="Text 7"/>
          <p:cNvSpPr/>
          <p:nvPr/>
        </p:nvSpPr>
        <p:spPr>
          <a:xfrm>
            <a:off x="6281928" y="2112264"/>
            <a:ext cx="2432304" cy="411480"/>
          </a:xfrm>
          <a:prstGeom prst="rect">
            <a:avLst/>
          </a:prstGeom>
          <a:noFill/>
          <a:ln/>
        </p:spPr>
        <p:txBody>
          <a:bodyPr wrap="square" rtlCol="0" anchor="t"/>
          <a:lstStyle/>
          <a:p>
            <a:pPr marL="0" indent="0">
              <a:buNone/>
            </a:pPr>
            <a:r>
              <a:rPr lang="en-US" sz="1000" dirty="0">
                <a:solidFill>
                  <a:srgbClr val="1A1A1A"/>
                </a:solidFill>
                <a:latin typeface="Calibri" pitchFamily="34" charset="0"/>
                <a:ea typeface="Calibri" pitchFamily="34" charset="-122"/>
                <a:cs typeface="Calibri" pitchFamily="34" charset="-120"/>
              </a:rPr>
              <a:t>Brand depth, Hyperpure, Blinkit</a:t>
            </a:r>
            <a:endParaRPr lang="en-US" sz="1000" dirty="0"/>
          </a:p>
        </p:txBody>
      </p:sp>
      <p:sp>
        <p:nvSpPr>
          <p:cNvPr id="11" name="Shape 8"/>
          <p:cNvSpPr/>
          <p:nvPr/>
        </p:nvSpPr>
        <p:spPr>
          <a:xfrm>
            <a:off x="9006840" y="1783080"/>
            <a:ext cx="2651760" cy="777240"/>
          </a:xfrm>
          <a:prstGeom prst="roundRect">
            <a:avLst>
              <a:gd name="adj" fmla="val 7059"/>
            </a:avLst>
          </a:prstGeom>
          <a:solidFill>
            <a:srgbClr val="F4F5F9"/>
          </a:solidFill>
          <a:ln/>
        </p:spPr>
      </p:sp>
      <p:sp>
        <p:nvSpPr>
          <p:cNvPr id="12" name="Text 9"/>
          <p:cNvSpPr/>
          <p:nvPr/>
        </p:nvSpPr>
        <p:spPr>
          <a:xfrm>
            <a:off x="9116568" y="1837944"/>
            <a:ext cx="2432304" cy="274320"/>
          </a:xfrm>
          <a:prstGeom prst="rect">
            <a:avLst/>
          </a:prstGeom>
          <a:noFill/>
          <a:ln/>
        </p:spPr>
        <p:txBody>
          <a:bodyPr wrap="square" rtlCol="0" anchor="ctr"/>
          <a:lstStyle/>
          <a:p>
            <a:pPr marL="0" indent="0">
              <a:buNone/>
            </a:pPr>
            <a:r>
              <a:rPr lang="en-US" sz="1150" b="1" dirty="0">
                <a:solidFill>
                  <a:srgbClr val="B3261E"/>
                </a:solidFill>
                <a:latin typeface="Calibri" pitchFamily="34" charset="0"/>
                <a:ea typeface="Calibri" pitchFamily="34" charset="-122"/>
                <a:cs typeface="Calibri" pitchFamily="34" charset="-120"/>
              </a:rPr>
              <a:t>Zomato −</a:t>
            </a:r>
            <a:endParaRPr lang="en-US" sz="1150" dirty="0"/>
          </a:p>
        </p:txBody>
      </p:sp>
      <p:sp>
        <p:nvSpPr>
          <p:cNvPr id="13" name="Text 10"/>
          <p:cNvSpPr/>
          <p:nvPr/>
        </p:nvSpPr>
        <p:spPr>
          <a:xfrm>
            <a:off x="9116568" y="2112264"/>
            <a:ext cx="2432304" cy="411480"/>
          </a:xfrm>
          <a:prstGeom prst="rect">
            <a:avLst/>
          </a:prstGeom>
          <a:noFill/>
          <a:ln/>
        </p:spPr>
        <p:txBody>
          <a:bodyPr wrap="square" rtlCol="0" anchor="t"/>
          <a:lstStyle/>
          <a:p>
            <a:pPr marL="0" indent="0">
              <a:buNone/>
            </a:pPr>
            <a:r>
              <a:rPr lang="en-US" sz="1000" dirty="0">
                <a:solidFill>
                  <a:srgbClr val="1A1A1A"/>
                </a:solidFill>
                <a:latin typeface="Calibri" pitchFamily="34" charset="0"/>
                <a:ea typeface="Calibri" pitchFamily="34" charset="-122"/>
                <a:cs typeface="Calibri" pitchFamily="34" charset="-120"/>
              </a:rPr>
              <a:t>Thin delivery margins</a:t>
            </a:r>
            <a:endParaRPr lang="en-US" sz="1000" dirty="0"/>
          </a:p>
        </p:txBody>
      </p:sp>
      <p:sp>
        <p:nvSpPr>
          <p:cNvPr id="14" name="Shape 11"/>
          <p:cNvSpPr/>
          <p:nvPr/>
        </p:nvSpPr>
        <p:spPr>
          <a:xfrm>
            <a:off x="6172200" y="2697480"/>
            <a:ext cx="2651760" cy="777240"/>
          </a:xfrm>
          <a:prstGeom prst="roundRect">
            <a:avLst>
              <a:gd name="adj" fmla="val 7059"/>
            </a:avLst>
          </a:prstGeom>
          <a:solidFill>
            <a:srgbClr val="F4F5F9"/>
          </a:solidFill>
          <a:ln/>
        </p:spPr>
      </p:sp>
      <p:sp>
        <p:nvSpPr>
          <p:cNvPr id="15" name="Text 12"/>
          <p:cNvSpPr/>
          <p:nvPr/>
        </p:nvSpPr>
        <p:spPr>
          <a:xfrm>
            <a:off x="6281928" y="2752344"/>
            <a:ext cx="2432304" cy="274320"/>
          </a:xfrm>
          <a:prstGeom prst="rect">
            <a:avLst/>
          </a:prstGeom>
          <a:noFill/>
          <a:ln/>
        </p:spPr>
        <p:txBody>
          <a:bodyPr wrap="square" rtlCol="0" anchor="ctr"/>
          <a:lstStyle/>
          <a:p>
            <a:pPr marL="0" indent="0">
              <a:buNone/>
            </a:pPr>
            <a:r>
              <a:rPr lang="en-US" sz="1150" b="1" dirty="0">
                <a:solidFill>
                  <a:srgbClr val="0E7C4A"/>
                </a:solidFill>
                <a:latin typeface="Calibri" pitchFamily="34" charset="0"/>
                <a:ea typeface="Calibri" pitchFamily="34" charset="-122"/>
                <a:cs typeface="Calibri" pitchFamily="34" charset="-120"/>
              </a:rPr>
              <a:t>Swiggy +</a:t>
            </a:r>
            <a:endParaRPr lang="en-US" sz="1150" dirty="0"/>
          </a:p>
        </p:txBody>
      </p:sp>
      <p:sp>
        <p:nvSpPr>
          <p:cNvPr id="16" name="Text 13"/>
          <p:cNvSpPr/>
          <p:nvPr/>
        </p:nvSpPr>
        <p:spPr>
          <a:xfrm>
            <a:off x="6281928" y="3026664"/>
            <a:ext cx="2432304" cy="411480"/>
          </a:xfrm>
          <a:prstGeom prst="rect">
            <a:avLst/>
          </a:prstGeom>
          <a:noFill/>
          <a:ln/>
        </p:spPr>
        <p:txBody>
          <a:bodyPr wrap="square" rtlCol="0" anchor="t"/>
          <a:lstStyle/>
          <a:p>
            <a:pPr marL="0" indent="0">
              <a:buNone/>
            </a:pPr>
            <a:r>
              <a:rPr lang="en-US" sz="1000" dirty="0">
                <a:solidFill>
                  <a:srgbClr val="1A1A1A"/>
                </a:solidFill>
                <a:latin typeface="Calibri" pitchFamily="34" charset="0"/>
                <a:ea typeface="Calibri" pitchFamily="34" charset="-122"/>
                <a:cs typeface="Calibri" pitchFamily="34" charset="-120"/>
              </a:rPr>
              <a:t>Instamart speed, super-app</a:t>
            </a:r>
            <a:endParaRPr lang="en-US" sz="1000" dirty="0"/>
          </a:p>
        </p:txBody>
      </p:sp>
      <p:sp>
        <p:nvSpPr>
          <p:cNvPr id="17" name="Shape 14"/>
          <p:cNvSpPr/>
          <p:nvPr/>
        </p:nvSpPr>
        <p:spPr>
          <a:xfrm>
            <a:off x="9006840" y="2697480"/>
            <a:ext cx="2651760" cy="777240"/>
          </a:xfrm>
          <a:prstGeom prst="roundRect">
            <a:avLst>
              <a:gd name="adj" fmla="val 7059"/>
            </a:avLst>
          </a:prstGeom>
          <a:solidFill>
            <a:srgbClr val="F4F5F9"/>
          </a:solidFill>
          <a:ln/>
        </p:spPr>
      </p:sp>
      <p:sp>
        <p:nvSpPr>
          <p:cNvPr id="18" name="Text 15"/>
          <p:cNvSpPr/>
          <p:nvPr/>
        </p:nvSpPr>
        <p:spPr>
          <a:xfrm>
            <a:off x="9116568" y="2752344"/>
            <a:ext cx="2432304" cy="274320"/>
          </a:xfrm>
          <a:prstGeom prst="rect">
            <a:avLst/>
          </a:prstGeom>
          <a:noFill/>
          <a:ln/>
        </p:spPr>
        <p:txBody>
          <a:bodyPr wrap="square" rtlCol="0" anchor="ctr"/>
          <a:lstStyle/>
          <a:p>
            <a:pPr marL="0" indent="0">
              <a:buNone/>
            </a:pPr>
            <a:r>
              <a:rPr lang="en-US" sz="1150" b="1" dirty="0">
                <a:solidFill>
                  <a:srgbClr val="B3261E"/>
                </a:solidFill>
                <a:latin typeface="Calibri" pitchFamily="34" charset="0"/>
                <a:ea typeface="Calibri" pitchFamily="34" charset="-122"/>
                <a:cs typeface="Calibri" pitchFamily="34" charset="-120"/>
              </a:rPr>
              <a:t>Swiggy −</a:t>
            </a:r>
            <a:endParaRPr lang="en-US" sz="1150" dirty="0"/>
          </a:p>
        </p:txBody>
      </p:sp>
      <p:sp>
        <p:nvSpPr>
          <p:cNvPr id="19" name="Text 16"/>
          <p:cNvSpPr/>
          <p:nvPr/>
        </p:nvSpPr>
        <p:spPr>
          <a:xfrm>
            <a:off x="9116568" y="3026664"/>
            <a:ext cx="2432304" cy="411480"/>
          </a:xfrm>
          <a:prstGeom prst="rect">
            <a:avLst/>
          </a:prstGeom>
          <a:noFill/>
          <a:ln/>
        </p:spPr>
        <p:txBody>
          <a:bodyPr wrap="square" rtlCol="0" anchor="t"/>
          <a:lstStyle/>
          <a:p>
            <a:pPr marL="0" indent="0">
              <a:buNone/>
            </a:pPr>
            <a:r>
              <a:rPr lang="en-US" sz="1000" dirty="0">
                <a:solidFill>
                  <a:srgbClr val="1A1A1A"/>
                </a:solidFill>
                <a:latin typeface="Calibri" pitchFamily="34" charset="0"/>
                <a:ea typeface="Calibri" pitchFamily="34" charset="-122"/>
                <a:cs typeface="Calibri" pitchFamily="34" charset="-120"/>
              </a:rPr>
              <a:t>Weaker discovery content</a:t>
            </a:r>
            <a:endParaRPr lang="en-US" sz="1000" dirty="0"/>
          </a:p>
        </p:txBody>
      </p:sp>
      <p:sp>
        <p:nvSpPr>
          <p:cNvPr id="20" name="Shape 17"/>
          <p:cNvSpPr/>
          <p:nvPr/>
        </p:nvSpPr>
        <p:spPr>
          <a:xfrm>
            <a:off x="548640" y="4251960"/>
            <a:ext cx="11091672" cy="1828800"/>
          </a:xfrm>
          <a:prstGeom prst="roundRect">
            <a:avLst>
              <a:gd name="adj" fmla="val 4000"/>
            </a:avLst>
          </a:prstGeom>
          <a:solidFill>
            <a:srgbClr val="F4F5F9"/>
          </a:solidFill>
          <a:ln/>
        </p:spPr>
      </p:sp>
      <p:sp>
        <p:nvSpPr>
          <p:cNvPr id="21" name="Text 18"/>
          <p:cNvSpPr/>
          <p:nvPr/>
        </p:nvSpPr>
        <p:spPr>
          <a:xfrm>
            <a:off x="822960" y="4389120"/>
            <a:ext cx="10515600" cy="1554480"/>
          </a:xfrm>
          <a:prstGeom prst="rect">
            <a:avLst/>
          </a:prstGeom>
          <a:noFill/>
          <a:ln/>
        </p:spPr>
        <p:txBody>
          <a:bodyPr wrap="square" rtlCol="0" anchor="t"/>
          <a:lstStyle/>
          <a:p>
            <a:pPr marL="0" indent="0">
              <a:lnSpc>
                <a:spcPct val="130000"/>
              </a:lnSpc>
              <a:buNone/>
            </a:pPr>
            <a:r>
              <a:rPr lang="en-US" sz="1300" b="1" dirty="0">
                <a:solidFill>
                  <a:srgbClr val="1E2761"/>
                </a:solidFill>
                <a:latin typeface="Calibri" pitchFamily="34" charset="0"/>
                <a:ea typeface="Calibri" pitchFamily="34" charset="-122"/>
                <a:cs typeface="Calibri" pitchFamily="34" charset="-120"/>
              </a:rPr>
              <a:t>Opportunities: </a:t>
            </a:r>
            <a:r>
              <a:rPr lang="en-US" sz="1300" dirty="0">
                <a:solidFill>
                  <a:srgbClr val="1A1A1A"/>
                </a:solidFill>
                <a:latin typeface="Calibri" pitchFamily="34" charset="0"/>
                <a:ea typeface="Calibri" pitchFamily="34" charset="-122"/>
                <a:cs typeface="Calibri" pitchFamily="34" charset="-120"/>
              </a:rPr>
              <a:t>Zomato can deepen District's events/dining ecosystem; Swiggy can expand Instamart into new categories and cities.
</a:t>
            </a:r>
            <a:r>
              <a:rPr lang="en-US" sz="1300" b="1" dirty="0">
                <a:solidFill>
                  <a:srgbClr val="1E2761"/>
                </a:solidFill>
                <a:latin typeface="Calibri" pitchFamily="34" charset="0"/>
                <a:ea typeface="Calibri" pitchFamily="34" charset="-122"/>
                <a:cs typeface="Calibri" pitchFamily="34" charset="-120"/>
              </a:rPr>
              <a:t>Challenges: </a:t>
            </a:r>
            <a:r>
              <a:rPr lang="en-US" sz="1300" dirty="0">
                <a:solidFill>
                  <a:srgbClr val="1A1A1A"/>
                </a:solidFill>
                <a:latin typeface="Calibri" pitchFamily="34" charset="0"/>
                <a:ea typeface="Calibri" pitchFamily="34" charset="-122"/>
                <a:cs typeface="Calibri" pitchFamily="34" charset="-120"/>
              </a:rPr>
              <a:t>Zomato must defend margins against quick-commerce competition; Swiggy must build discovery content depth and durable profitability.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Recent Marketing Campaigns</a:t>
            </a:r>
            <a:endParaRPr lang="en-US" sz="3000" dirty="0"/>
          </a:p>
        </p:txBody>
      </p:sp>
      <p:sp>
        <p:nvSpPr>
          <p:cNvPr id="3" name="Text 1"/>
          <p:cNvSpPr/>
          <p:nvPr/>
        </p:nvSpPr>
        <p:spPr>
          <a:xfrm>
            <a:off x="548640" y="868680"/>
            <a:ext cx="11064240" cy="365760"/>
          </a:xfrm>
          <a:prstGeom prst="rect">
            <a:avLst/>
          </a:prstGeom>
          <a:noFill/>
          <a:ln/>
        </p:spPr>
        <p:txBody>
          <a:bodyPr wrap="square" rtlCol="0" anchor="ctr"/>
          <a:lstStyle/>
          <a:p>
            <a:pPr marL="0" indent="0">
              <a:buNone/>
            </a:pPr>
            <a:r>
              <a:rPr lang="en-US" sz="1400" i="1" dirty="0">
                <a:solidFill>
                  <a:srgbClr val="6B6F76"/>
                </a:solidFill>
                <a:latin typeface="Calibri" pitchFamily="34" charset="0"/>
                <a:ea typeface="Calibri" pitchFamily="34" charset="-122"/>
                <a:cs typeface="Calibri" pitchFamily="34" charset="-120"/>
              </a:rPr>
              <a:t>Campaign cycles turn over fast — the pattern matters more than any one execution</a:t>
            </a:r>
            <a:endParaRPr lang="en-US" sz="1400" dirty="0"/>
          </a:p>
        </p:txBody>
      </p:sp>
      <p:sp>
        <p:nvSpPr>
          <p:cNvPr id="4" name="Text 2"/>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6</a:t>
            </a:r>
            <a:endParaRPr lang="en-US" sz="900" dirty="0"/>
          </a:p>
        </p:txBody>
      </p:sp>
      <p:sp>
        <p:nvSpPr>
          <p:cNvPr id="5" name="Shape 3"/>
          <p:cNvSpPr/>
          <p:nvPr/>
        </p:nvSpPr>
        <p:spPr>
          <a:xfrm>
            <a:off x="548640" y="1645920"/>
            <a:ext cx="5074920" cy="3291840"/>
          </a:xfrm>
          <a:prstGeom prst="roundRect">
            <a:avLst>
              <a:gd name="adj" fmla="val 2778"/>
            </a:avLst>
          </a:prstGeom>
          <a:solidFill>
            <a:srgbClr val="FDECEC"/>
          </a:solidFill>
          <a:ln/>
        </p:spPr>
      </p:sp>
      <p:sp>
        <p:nvSpPr>
          <p:cNvPr id="6" name="Text 4"/>
          <p:cNvSpPr/>
          <p:nvPr/>
        </p:nvSpPr>
        <p:spPr>
          <a:xfrm>
            <a:off x="822960" y="1874520"/>
            <a:ext cx="4526280" cy="365760"/>
          </a:xfrm>
          <a:prstGeom prst="rect">
            <a:avLst/>
          </a:prstGeom>
          <a:noFill/>
          <a:ln/>
        </p:spPr>
        <p:txBody>
          <a:bodyPr wrap="square" rtlCol="0" anchor="ctr"/>
          <a:lstStyle/>
          <a:p>
            <a:pPr marL="0" indent="0">
              <a:buNone/>
            </a:pPr>
            <a:r>
              <a:rPr lang="en-US" sz="1600" b="1" dirty="0">
                <a:solidFill>
                  <a:srgbClr val="CB202D"/>
                </a:solidFill>
                <a:latin typeface="Cambria" pitchFamily="34" charset="0"/>
                <a:ea typeface="Cambria" pitchFamily="34" charset="-122"/>
                <a:cs typeface="Cambria" pitchFamily="34" charset="-120"/>
              </a:rPr>
              <a:t>ZOMATO</a:t>
            </a:r>
            <a:endParaRPr lang="en-US" sz="1600" dirty="0"/>
          </a:p>
        </p:txBody>
      </p:sp>
      <p:sp>
        <p:nvSpPr>
          <p:cNvPr id="7" name="Text 5"/>
          <p:cNvSpPr/>
          <p:nvPr/>
        </p:nvSpPr>
        <p:spPr>
          <a:xfrm>
            <a:off x="822960" y="2331720"/>
            <a:ext cx="4526280" cy="2468880"/>
          </a:xfrm>
          <a:prstGeom prst="rect">
            <a:avLst/>
          </a:prstGeom>
          <a:noFill/>
          <a:ln/>
        </p:spPr>
        <p:txBody>
          <a:bodyPr wrap="square" rtlCol="0" anchor="t"/>
          <a:lstStyle/>
          <a:p>
            <a:pPr marL="0" indent="0">
              <a:lnSpc>
                <a:spcPct val="125000"/>
              </a:lnSpc>
              <a:buNone/>
            </a:pPr>
            <a:r>
              <a:rPr lang="en-US" sz="1300" b="1" dirty="0">
                <a:solidFill>
                  <a:srgbClr val="1A1A1A"/>
                </a:solidFill>
                <a:latin typeface="Calibri" pitchFamily="34" charset="0"/>
                <a:ea typeface="Calibri" pitchFamily="34" charset="-122"/>
                <a:cs typeface="Calibri" pitchFamily="34" charset="-120"/>
              </a:rPr>
              <a:t>Typical focus: </a:t>
            </a:r>
            <a:r>
              <a:rPr lang="en-US" sz="1300" dirty="0">
                <a:solidFill>
                  <a:srgbClr val="1A1A1A"/>
                </a:solidFill>
                <a:latin typeface="Calibri" pitchFamily="34" charset="0"/>
                <a:ea typeface="Calibri" pitchFamily="34" charset="-122"/>
                <a:cs typeface="Calibri" pitchFamily="34" charset="-120"/>
              </a:rPr>
              <a:t>food culture, celebration, and dining-out occasions tied to festivals and cricket season.
</a:t>
            </a:r>
            <a:r>
              <a:rPr lang="en-US" sz="1300" b="1" dirty="0">
                <a:solidFill>
                  <a:srgbClr val="1A1A1A"/>
                </a:solidFill>
                <a:latin typeface="Calibri" pitchFamily="34" charset="0"/>
                <a:ea typeface="Calibri" pitchFamily="34" charset="-122"/>
                <a:cs typeface="Calibri" pitchFamily="34" charset="-120"/>
              </a:rPr>
              <a:t>Objective: </a:t>
            </a:r>
            <a:r>
              <a:rPr lang="en-US" sz="1300" dirty="0">
                <a:solidFill>
                  <a:srgbClr val="1A1A1A"/>
                </a:solidFill>
                <a:latin typeface="Calibri" pitchFamily="34" charset="0"/>
                <a:ea typeface="Calibri" pitchFamily="34" charset="-122"/>
                <a:cs typeface="Calibri" pitchFamily="34" charset="-120"/>
              </a:rPr>
              <a:t>stay culturally talked-about, not just clicked on.
</a:t>
            </a:r>
            <a:r>
              <a:rPr lang="en-US" sz="1300" b="1" dirty="0">
                <a:solidFill>
                  <a:srgbClr val="1A1A1A"/>
                </a:solidFill>
                <a:latin typeface="Calibri" pitchFamily="34" charset="0"/>
                <a:ea typeface="Calibri" pitchFamily="34" charset="-122"/>
                <a:cs typeface="Calibri" pitchFamily="34" charset="-120"/>
              </a:rPr>
              <a:t>Best source: </a:t>
            </a:r>
            <a:r>
              <a:rPr lang="en-US" sz="1300" dirty="0">
                <a:solidFill>
                  <a:srgbClr val="1A1A1A"/>
                </a:solidFill>
                <a:latin typeface="Calibri" pitchFamily="34" charset="0"/>
                <a:ea typeface="Calibri" pitchFamily="34" charset="-122"/>
                <a:cs typeface="Calibri" pitchFamily="34" charset="-120"/>
              </a:rPr>
              <a:t>Zomato's official newsroom and Campaign India for the latest execution.</a:t>
            </a:r>
            <a:endParaRPr lang="en-US" sz="1300" dirty="0"/>
          </a:p>
        </p:txBody>
      </p:sp>
      <p:sp>
        <p:nvSpPr>
          <p:cNvPr id="8" name="Shape 6"/>
          <p:cNvSpPr/>
          <p:nvPr/>
        </p:nvSpPr>
        <p:spPr>
          <a:xfrm>
            <a:off x="5989320" y="1645920"/>
            <a:ext cx="5074920" cy="3291840"/>
          </a:xfrm>
          <a:prstGeom prst="roundRect">
            <a:avLst>
              <a:gd name="adj" fmla="val 2778"/>
            </a:avLst>
          </a:prstGeom>
          <a:solidFill>
            <a:srgbClr val="FFF1E3"/>
          </a:solidFill>
          <a:ln/>
        </p:spPr>
      </p:sp>
      <p:sp>
        <p:nvSpPr>
          <p:cNvPr id="9" name="Text 7"/>
          <p:cNvSpPr/>
          <p:nvPr/>
        </p:nvSpPr>
        <p:spPr>
          <a:xfrm>
            <a:off x="6263640" y="1874520"/>
            <a:ext cx="4526280" cy="365760"/>
          </a:xfrm>
          <a:prstGeom prst="rect">
            <a:avLst/>
          </a:prstGeom>
          <a:noFill/>
          <a:ln/>
        </p:spPr>
        <p:txBody>
          <a:bodyPr wrap="square" rtlCol="0" anchor="ctr"/>
          <a:lstStyle/>
          <a:p>
            <a:pPr marL="0" indent="0">
              <a:buNone/>
            </a:pPr>
            <a:r>
              <a:rPr lang="en-US" sz="1600" b="1" dirty="0">
                <a:solidFill>
                  <a:srgbClr val="FC8019"/>
                </a:solidFill>
                <a:latin typeface="Cambria" pitchFamily="34" charset="0"/>
                <a:ea typeface="Cambria" pitchFamily="34" charset="-122"/>
                <a:cs typeface="Cambria" pitchFamily="34" charset="-120"/>
              </a:rPr>
              <a:t>SWIGGY</a:t>
            </a:r>
            <a:endParaRPr lang="en-US" sz="1600" dirty="0"/>
          </a:p>
        </p:txBody>
      </p:sp>
      <p:sp>
        <p:nvSpPr>
          <p:cNvPr id="10" name="Text 8"/>
          <p:cNvSpPr/>
          <p:nvPr/>
        </p:nvSpPr>
        <p:spPr>
          <a:xfrm>
            <a:off x="6263640" y="2331720"/>
            <a:ext cx="4526280" cy="2468880"/>
          </a:xfrm>
          <a:prstGeom prst="rect">
            <a:avLst/>
          </a:prstGeom>
          <a:noFill/>
          <a:ln/>
        </p:spPr>
        <p:txBody>
          <a:bodyPr wrap="square" rtlCol="0" anchor="t"/>
          <a:lstStyle/>
          <a:p>
            <a:pPr marL="0" indent="0">
              <a:lnSpc>
                <a:spcPct val="125000"/>
              </a:lnSpc>
              <a:buNone/>
            </a:pPr>
            <a:r>
              <a:rPr lang="en-US" sz="1300" b="1" dirty="0">
                <a:solidFill>
                  <a:srgbClr val="1A1A1A"/>
                </a:solidFill>
                <a:latin typeface="Calibri" pitchFamily="34" charset="0"/>
                <a:ea typeface="Calibri" pitchFamily="34" charset="-122"/>
                <a:cs typeface="Calibri" pitchFamily="34" charset="-120"/>
              </a:rPr>
              <a:t>Typical focus: </a:t>
            </a:r>
            <a:r>
              <a:rPr lang="en-US" sz="1300" dirty="0">
                <a:solidFill>
                  <a:srgbClr val="1A1A1A"/>
                </a:solidFill>
                <a:latin typeface="Calibri" pitchFamily="34" charset="0"/>
                <a:ea typeface="Calibri" pitchFamily="34" charset="-122"/>
                <a:cs typeface="Calibri" pitchFamily="34" charset="-120"/>
              </a:rPr>
              <a:t>speed, reliability, and category breadth — especially Instamart — tied to IPL and festive shopping.
</a:t>
            </a:r>
            <a:r>
              <a:rPr lang="en-US" sz="1300" b="1" dirty="0">
                <a:solidFill>
                  <a:srgbClr val="1A1A1A"/>
                </a:solidFill>
                <a:latin typeface="Calibri" pitchFamily="34" charset="0"/>
                <a:ea typeface="Calibri" pitchFamily="34" charset="-122"/>
                <a:cs typeface="Calibri" pitchFamily="34" charset="-120"/>
              </a:rPr>
              <a:t>Objective: </a:t>
            </a:r>
            <a:r>
              <a:rPr lang="en-US" sz="1300" dirty="0">
                <a:solidFill>
                  <a:srgbClr val="1A1A1A"/>
                </a:solidFill>
                <a:latin typeface="Calibri" pitchFamily="34" charset="0"/>
                <a:ea typeface="Calibri" pitchFamily="34" charset="-122"/>
                <a:cs typeface="Calibri" pitchFamily="34" charset="-120"/>
              </a:rPr>
              <a:t>convert attention into immediate app usage.
</a:t>
            </a:r>
            <a:r>
              <a:rPr lang="en-US" sz="1300" b="1" dirty="0">
                <a:solidFill>
                  <a:srgbClr val="1A1A1A"/>
                </a:solidFill>
                <a:latin typeface="Calibri" pitchFamily="34" charset="0"/>
                <a:ea typeface="Calibri" pitchFamily="34" charset="-122"/>
                <a:cs typeface="Calibri" pitchFamily="34" charset="-120"/>
              </a:rPr>
              <a:t>Best source: </a:t>
            </a:r>
            <a:r>
              <a:rPr lang="en-US" sz="1300" dirty="0">
                <a:solidFill>
                  <a:srgbClr val="1A1A1A"/>
                </a:solidFill>
                <a:latin typeface="Calibri" pitchFamily="34" charset="0"/>
                <a:ea typeface="Calibri" pitchFamily="34" charset="-122"/>
                <a:cs typeface="Calibri" pitchFamily="34" charset="-120"/>
              </a:rPr>
              <a:t>Swiggy's official newsroom and Adweek/Marketing Week for the latest execution.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Which Brand Performs Better?</a:t>
            </a:r>
            <a:endParaRPr lang="en-US" sz="2800" dirty="0"/>
          </a:p>
        </p:txBody>
      </p:sp>
      <p:sp>
        <p:nvSpPr>
          <p:cNvPr id="3" name="Text 1"/>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7</a:t>
            </a:r>
            <a:endParaRPr lang="en-US" sz="900" dirty="0"/>
          </a:p>
        </p:txBody>
      </p:sp>
      <p:sp>
        <p:nvSpPr>
          <p:cNvPr id="4" name="Shape 2"/>
          <p:cNvSpPr/>
          <p:nvPr/>
        </p:nvSpPr>
        <p:spPr>
          <a:xfrm>
            <a:off x="548640" y="1097280"/>
            <a:ext cx="11091672" cy="1188720"/>
          </a:xfrm>
          <a:prstGeom prst="roundRect">
            <a:avLst>
              <a:gd name="adj" fmla="val 7692"/>
            </a:avLst>
          </a:prstGeom>
          <a:solidFill>
            <a:srgbClr val="16204F"/>
          </a:solidFill>
          <a:ln/>
        </p:spPr>
      </p:sp>
      <p:sp>
        <p:nvSpPr>
          <p:cNvPr id="5" name="Shape 3"/>
          <p:cNvSpPr/>
          <p:nvPr/>
        </p:nvSpPr>
        <p:spPr>
          <a:xfrm>
            <a:off x="777240" y="1280160"/>
            <a:ext cx="1554480" cy="822960"/>
          </a:xfrm>
          <a:prstGeom prst="roundRect">
            <a:avLst>
              <a:gd name="adj" fmla="val 8889"/>
            </a:avLst>
          </a:prstGeom>
          <a:solidFill>
            <a:srgbClr val="CB202D"/>
          </a:solidFill>
          <a:ln/>
        </p:spPr>
      </p:sp>
      <p:sp>
        <p:nvSpPr>
          <p:cNvPr id="6" name="Text 4"/>
          <p:cNvSpPr/>
          <p:nvPr/>
        </p:nvSpPr>
        <p:spPr>
          <a:xfrm>
            <a:off x="777240" y="1280160"/>
            <a:ext cx="155448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zomato</a:t>
            </a:r>
            <a:endParaRPr lang="en-US" sz="2000" dirty="0"/>
          </a:p>
        </p:txBody>
      </p:sp>
      <p:sp>
        <p:nvSpPr>
          <p:cNvPr id="7" name="Text 5"/>
          <p:cNvSpPr/>
          <p:nvPr/>
        </p:nvSpPr>
        <p:spPr>
          <a:xfrm>
            <a:off x="2514600" y="1234440"/>
            <a:ext cx="8869680" cy="914400"/>
          </a:xfrm>
          <a:prstGeom prst="rect">
            <a:avLst/>
          </a:prstGeom>
          <a:noFill/>
          <a:ln/>
        </p:spPr>
        <p:txBody>
          <a:bodyPr wrap="square" rtlCol="0" anchor="ctr"/>
          <a:lstStyle/>
          <a:p>
            <a:pPr marL="0" indent="0">
              <a:buNone/>
            </a:pPr>
            <a:r>
              <a:rPr lang="en-US" sz="1350" b="1" dirty="0">
                <a:solidFill>
                  <a:srgbClr val="FFD873"/>
                </a:solidFill>
                <a:latin typeface="Calibri" pitchFamily="34" charset="0"/>
                <a:ea typeface="Calibri" pitchFamily="34" charset="-122"/>
                <a:cs typeface="Calibri" pitchFamily="34" charset="-120"/>
              </a:rPr>
              <a:t>Winner on brand depth: </a:t>
            </a:r>
            <a:r>
              <a:rPr lang="en-US" sz="1350" dirty="0">
                <a:solidFill>
                  <a:srgbClr val="FFFFFF"/>
                </a:solidFill>
                <a:latin typeface="Calibri" pitchFamily="34" charset="0"/>
                <a:ea typeface="Calibri" pitchFamily="34" charset="-122"/>
                <a:cs typeface="Calibri" pitchFamily="34" charset="-120"/>
              </a:rPr>
              <a:t>dining-out heritage, category-leading social voice, and diversified growth engines (Hyperpure, Blinkit) give it the edge over a strong operator in Swiggy.</a:t>
            </a:r>
            <a:endParaRPr lang="en-US" sz="1350" dirty="0"/>
          </a:p>
        </p:txBody>
      </p:sp>
      <p:sp>
        <p:nvSpPr>
          <p:cNvPr id="8" name="Text 6"/>
          <p:cNvSpPr/>
          <p:nvPr/>
        </p:nvSpPr>
        <p:spPr>
          <a:xfrm>
            <a:off x="548640" y="2514600"/>
            <a:ext cx="11064240" cy="411480"/>
          </a:xfrm>
          <a:prstGeom prst="rect">
            <a:avLst/>
          </a:prstGeom>
          <a:noFill/>
          <a:ln/>
        </p:spPr>
        <p:txBody>
          <a:bodyPr wrap="square" rtlCol="0" anchor="ctr"/>
          <a:lstStyle/>
          <a:p>
            <a:pPr marL="0" indent="0">
              <a:buNone/>
            </a:pPr>
            <a:r>
              <a:rPr lang="en-US" sz="1800" b="1" dirty="0">
                <a:solidFill>
                  <a:srgbClr val="C99A2E"/>
                </a:solidFill>
                <a:latin typeface="Cambria" pitchFamily="34" charset="0"/>
                <a:ea typeface="Cambria" pitchFamily="34" charset="-122"/>
                <a:cs typeface="Cambria" pitchFamily="34" charset="-120"/>
              </a:rPr>
              <a:t>BONUS — A 2-Year CMO Playbook for Swiggy</a:t>
            </a:r>
            <a:endParaRPr lang="en-US" sz="1800" dirty="0"/>
          </a:p>
        </p:txBody>
      </p:sp>
      <p:sp>
        <p:nvSpPr>
          <p:cNvPr id="9" name="Shape 7"/>
          <p:cNvSpPr/>
          <p:nvPr/>
        </p:nvSpPr>
        <p:spPr>
          <a:xfrm>
            <a:off x="548640" y="3017520"/>
            <a:ext cx="3520440" cy="3200400"/>
          </a:xfrm>
          <a:prstGeom prst="roundRect">
            <a:avLst>
              <a:gd name="adj" fmla="val 2286"/>
            </a:avLst>
          </a:prstGeom>
          <a:solidFill>
            <a:srgbClr val="FFFFFF"/>
          </a:solidFill>
          <a:ln/>
        </p:spPr>
      </p:sp>
      <p:sp>
        <p:nvSpPr>
          <p:cNvPr id="10" name="Shape 8"/>
          <p:cNvSpPr/>
          <p:nvPr/>
        </p:nvSpPr>
        <p:spPr>
          <a:xfrm>
            <a:off x="777240" y="3246120"/>
            <a:ext cx="502920" cy="502920"/>
          </a:xfrm>
          <a:prstGeom prst="ellipse">
            <a:avLst/>
          </a:prstGeom>
          <a:solidFill>
            <a:srgbClr val="C99A2E"/>
          </a:solidFill>
          <a:ln/>
        </p:spPr>
      </p:sp>
      <p:sp>
        <p:nvSpPr>
          <p:cNvPr id="11" name="Text 9"/>
          <p:cNvSpPr/>
          <p:nvPr/>
        </p:nvSpPr>
        <p:spPr>
          <a:xfrm>
            <a:off x="777240" y="32461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2" name="Text 10"/>
          <p:cNvSpPr/>
          <p:nvPr/>
        </p:nvSpPr>
        <p:spPr>
          <a:xfrm>
            <a:off x="777240" y="3840480"/>
            <a:ext cx="3063240" cy="548640"/>
          </a:xfrm>
          <a:prstGeom prst="rect">
            <a:avLst/>
          </a:prstGeom>
          <a:noFill/>
          <a:ln/>
        </p:spPr>
        <p:txBody>
          <a:bodyPr wrap="square" rtlCol="0" anchor="t"/>
          <a:lstStyle/>
          <a:p>
            <a:pPr marL="0" indent="0">
              <a:buNone/>
            </a:pPr>
            <a:r>
              <a:rPr lang="en-US" sz="1400" b="1" dirty="0">
                <a:solidFill>
                  <a:srgbClr val="1E2761"/>
                </a:solidFill>
                <a:latin typeface="Cambria" pitchFamily="34" charset="0"/>
                <a:ea typeface="Cambria" pitchFamily="34" charset="-122"/>
                <a:cs typeface="Cambria" pitchFamily="34" charset="-120"/>
              </a:rPr>
              <a:t>Own "Convenience Culture"</a:t>
            </a:r>
            <a:endParaRPr lang="en-US" sz="1400" dirty="0"/>
          </a:p>
        </p:txBody>
      </p:sp>
      <p:sp>
        <p:nvSpPr>
          <p:cNvPr id="13" name="Text 11"/>
          <p:cNvSpPr/>
          <p:nvPr/>
        </p:nvSpPr>
        <p:spPr>
          <a:xfrm>
            <a:off x="777240" y="4389120"/>
            <a:ext cx="3063240" cy="1691640"/>
          </a:xfrm>
          <a:prstGeom prst="rect">
            <a:avLst/>
          </a:prstGeom>
          <a:noFill/>
          <a:ln/>
        </p:spPr>
        <p:txBody>
          <a:bodyPr wrap="square" rtlCol="0" anchor="t"/>
          <a:lstStyle/>
          <a:p>
            <a:pPr marL="0" indent="0">
              <a:lnSpc>
                <a:spcPct val="120000"/>
              </a:lnSpc>
              <a:buNone/>
            </a:pPr>
            <a:r>
              <a:rPr lang="en-US" sz="1150" dirty="0">
                <a:solidFill>
                  <a:srgbClr val="1A1A1A"/>
                </a:solidFill>
                <a:latin typeface="Calibri" pitchFamily="34" charset="0"/>
                <a:ea typeface="Calibri" pitchFamily="34" charset="-122"/>
                <a:cs typeface="Calibri" pitchFamily="34" charset="-120"/>
              </a:rPr>
              <a:t>Build a content pillar around time saved and daily-life convenience — playing to Swiggy's real operational strength instead of imitating Zomato's wit.</a:t>
            </a:r>
            <a:endParaRPr lang="en-US" sz="1150" dirty="0"/>
          </a:p>
        </p:txBody>
      </p:sp>
      <p:sp>
        <p:nvSpPr>
          <p:cNvPr id="14" name="Shape 12"/>
          <p:cNvSpPr/>
          <p:nvPr/>
        </p:nvSpPr>
        <p:spPr>
          <a:xfrm>
            <a:off x="4251960" y="3017520"/>
            <a:ext cx="3520440" cy="3200400"/>
          </a:xfrm>
          <a:prstGeom prst="roundRect">
            <a:avLst>
              <a:gd name="adj" fmla="val 2286"/>
            </a:avLst>
          </a:prstGeom>
          <a:solidFill>
            <a:srgbClr val="FFFFFF"/>
          </a:solidFill>
          <a:ln/>
        </p:spPr>
      </p:sp>
      <p:sp>
        <p:nvSpPr>
          <p:cNvPr id="15" name="Shape 13"/>
          <p:cNvSpPr/>
          <p:nvPr/>
        </p:nvSpPr>
        <p:spPr>
          <a:xfrm>
            <a:off x="4480560" y="3246120"/>
            <a:ext cx="502920" cy="502920"/>
          </a:xfrm>
          <a:prstGeom prst="ellipse">
            <a:avLst/>
          </a:prstGeom>
          <a:solidFill>
            <a:srgbClr val="C99A2E"/>
          </a:solidFill>
          <a:ln/>
        </p:spPr>
      </p:sp>
      <p:sp>
        <p:nvSpPr>
          <p:cNvPr id="16" name="Text 14"/>
          <p:cNvSpPr/>
          <p:nvPr/>
        </p:nvSpPr>
        <p:spPr>
          <a:xfrm>
            <a:off x="4480560" y="32461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Text 15"/>
          <p:cNvSpPr/>
          <p:nvPr/>
        </p:nvSpPr>
        <p:spPr>
          <a:xfrm>
            <a:off x="4480560" y="3840480"/>
            <a:ext cx="3063240" cy="548640"/>
          </a:xfrm>
          <a:prstGeom prst="rect">
            <a:avLst/>
          </a:prstGeom>
          <a:noFill/>
          <a:ln/>
        </p:spPr>
        <p:txBody>
          <a:bodyPr wrap="square" rtlCol="0" anchor="t"/>
          <a:lstStyle/>
          <a:p>
            <a:pPr marL="0" indent="0">
              <a:buNone/>
            </a:pPr>
            <a:r>
              <a:rPr lang="en-US" sz="1400" b="1" dirty="0">
                <a:solidFill>
                  <a:srgbClr val="1E2761"/>
                </a:solidFill>
                <a:latin typeface="Cambria" pitchFamily="34" charset="0"/>
                <a:ea typeface="Cambria" pitchFamily="34" charset="-122"/>
                <a:cs typeface="Cambria" pitchFamily="34" charset="-120"/>
              </a:rPr>
              <a:t>Turn Instamart into Discovery</a:t>
            </a:r>
            <a:endParaRPr lang="en-US" sz="1400" dirty="0"/>
          </a:p>
        </p:txBody>
      </p:sp>
      <p:sp>
        <p:nvSpPr>
          <p:cNvPr id="18" name="Text 16"/>
          <p:cNvSpPr/>
          <p:nvPr/>
        </p:nvSpPr>
        <p:spPr>
          <a:xfrm>
            <a:off x="4480560" y="4389120"/>
            <a:ext cx="3063240" cy="1691640"/>
          </a:xfrm>
          <a:prstGeom prst="rect">
            <a:avLst/>
          </a:prstGeom>
          <a:noFill/>
          <a:ln/>
        </p:spPr>
        <p:txBody>
          <a:bodyPr wrap="square" rtlCol="0" anchor="t"/>
          <a:lstStyle/>
          <a:p>
            <a:pPr marL="0" indent="0">
              <a:lnSpc>
                <a:spcPct val="120000"/>
              </a:lnSpc>
              <a:buNone/>
            </a:pPr>
            <a:r>
              <a:rPr lang="en-US" sz="1150" dirty="0">
                <a:solidFill>
                  <a:srgbClr val="1A1A1A"/>
                </a:solidFill>
                <a:latin typeface="Calibri" pitchFamily="34" charset="0"/>
                <a:ea typeface="Calibri" pitchFamily="34" charset="-122"/>
                <a:cs typeface="Calibri" pitchFamily="34" charset="-120"/>
              </a:rPr>
              <a:t>Add curated, editorial content (recipes, quick meals, local spotlights) so users browse Instamart, not just buy — directly targeting Zomato's one real edge.</a:t>
            </a:r>
            <a:endParaRPr lang="en-US" sz="1150" dirty="0"/>
          </a:p>
        </p:txBody>
      </p:sp>
      <p:sp>
        <p:nvSpPr>
          <p:cNvPr id="19" name="Shape 17"/>
          <p:cNvSpPr/>
          <p:nvPr/>
        </p:nvSpPr>
        <p:spPr>
          <a:xfrm>
            <a:off x="7955280" y="3017520"/>
            <a:ext cx="3520440" cy="3200400"/>
          </a:xfrm>
          <a:prstGeom prst="roundRect">
            <a:avLst>
              <a:gd name="adj" fmla="val 2286"/>
            </a:avLst>
          </a:prstGeom>
          <a:solidFill>
            <a:srgbClr val="FFFFFF"/>
          </a:solidFill>
          <a:ln/>
        </p:spPr>
      </p:sp>
      <p:sp>
        <p:nvSpPr>
          <p:cNvPr id="20" name="Shape 18"/>
          <p:cNvSpPr/>
          <p:nvPr/>
        </p:nvSpPr>
        <p:spPr>
          <a:xfrm>
            <a:off x="8183880" y="3246120"/>
            <a:ext cx="502920" cy="502920"/>
          </a:xfrm>
          <a:prstGeom prst="ellipse">
            <a:avLst/>
          </a:prstGeom>
          <a:solidFill>
            <a:srgbClr val="C99A2E"/>
          </a:solidFill>
          <a:ln/>
        </p:spPr>
      </p:sp>
      <p:sp>
        <p:nvSpPr>
          <p:cNvPr id="21" name="Text 19"/>
          <p:cNvSpPr/>
          <p:nvPr/>
        </p:nvSpPr>
        <p:spPr>
          <a:xfrm>
            <a:off x="8183880" y="32461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20"/>
          <p:cNvSpPr/>
          <p:nvPr/>
        </p:nvSpPr>
        <p:spPr>
          <a:xfrm>
            <a:off x="8183880" y="3840480"/>
            <a:ext cx="3063240" cy="548640"/>
          </a:xfrm>
          <a:prstGeom prst="rect">
            <a:avLst/>
          </a:prstGeom>
          <a:noFill/>
          <a:ln/>
        </p:spPr>
        <p:txBody>
          <a:bodyPr wrap="square" rtlCol="0" anchor="t"/>
          <a:lstStyle/>
          <a:p>
            <a:pPr marL="0" indent="0">
              <a:buNone/>
            </a:pPr>
            <a:r>
              <a:rPr lang="en-US" sz="1400" b="1" dirty="0">
                <a:solidFill>
                  <a:srgbClr val="1E2761"/>
                </a:solidFill>
                <a:latin typeface="Cambria" pitchFamily="34" charset="0"/>
                <a:ea typeface="Cambria" pitchFamily="34" charset="-122"/>
                <a:cs typeface="Cambria" pitchFamily="34" charset="-120"/>
              </a:rPr>
              <a:t>Deepen Swiggy One</a:t>
            </a:r>
            <a:endParaRPr lang="en-US" sz="1400" dirty="0"/>
          </a:p>
        </p:txBody>
      </p:sp>
      <p:sp>
        <p:nvSpPr>
          <p:cNvPr id="23" name="Text 21"/>
          <p:cNvSpPr/>
          <p:nvPr/>
        </p:nvSpPr>
        <p:spPr>
          <a:xfrm>
            <a:off x="8183880" y="4389120"/>
            <a:ext cx="3063240" cy="1691640"/>
          </a:xfrm>
          <a:prstGeom prst="rect">
            <a:avLst/>
          </a:prstGeom>
          <a:noFill/>
          <a:ln/>
        </p:spPr>
        <p:txBody>
          <a:bodyPr wrap="square" rtlCol="0" anchor="t"/>
          <a:lstStyle/>
          <a:p>
            <a:pPr marL="0" indent="0">
              <a:lnSpc>
                <a:spcPct val="120000"/>
              </a:lnSpc>
              <a:buNone/>
            </a:pPr>
            <a:r>
              <a:rPr lang="en-US" sz="1150" dirty="0">
                <a:solidFill>
                  <a:srgbClr val="1A1A1A"/>
                </a:solidFill>
                <a:latin typeface="Calibri" pitchFamily="34" charset="0"/>
                <a:ea typeface="Calibri" pitchFamily="34" charset="-122"/>
                <a:cs typeface="Calibri" pitchFamily="34" charset="-120"/>
              </a:rPr>
              <a:t>Build a genuine cross-category habit loop across food, Instamart, and Genie with visible savings — raising switching cost more durably than any campaign.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Conclusion &amp; Key Learnings</a:t>
            </a:r>
            <a:endParaRPr lang="en-US" sz="3000" dirty="0"/>
          </a:p>
        </p:txBody>
      </p:sp>
      <p:sp>
        <p:nvSpPr>
          <p:cNvPr id="3" name="Text 1"/>
          <p:cNvSpPr/>
          <p:nvPr/>
        </p:nvSpPr>
        <p:spPr>
          <a:xfrm>
            <a:off x="457200" y="6537960"/>
            <a:ext cx="11247120" cy="274320"/>
          </a:xfrm>
          <a:prstGeom prst="rect">
            <a:avLst/>
          </a:prstGeom>
          <a:noFill/>
          <a:ln/>
        </p:spPr>
        <p:txBody>
          <a:bodyPr wrap="square" rtlCol="0" anchor="ctr"/>
          <a:lstStyle/>
          <a:p>
            <a:pPr marL="0" indent="0" algn="l">
              <a:buNone/>
            </a:pPr>
            <a:r>
              <a:rPr lang="en-US" sz="900" dirty="0">
                <a:solidFill>
                  <a:srgbClr val="6B6F76"/>
                </a:solidFill>
                <a:latin typeface="Calibri" pitchFamily="34" charset="0"/>
                <a:ea typeface="Calibri" pitchFamily="34" charset="-122"/>
                <a:cs typeface="Calibri" pitchFamily="34" charset="-120"/>
              </a:rPr>
              <a:t>Bhavika Santosh Bhoir  |  Sanyukt Organisation  |  8</a:t>
            </a:r>
            <a:endParaRPr lang="en-US" sz="900" dirty="0"/>
          </a:p>
        </p:txBody>
      </p:sp>
      <p:sp>
        <p:nvSpPr>
          <p:cNvPr id="4" name="Shape 2"/>
          <p:cNvSpPr/>
          <p:nvPr/>
        </p:nvSpPr>
        <p:spPr>
          <a:xfrm>
            <a:off x="548640" y="1554480"/>
            <a:ext cx="457200" cy="457200"/>
          </a:xfrm>
          <a:prstGeom prst="roundRect">
            <a:avLst>
              <a:gd name="adj" fmla="val 12000"/>
            </a:avLst>
          </a:prstGeom>
          <a:solidFill>
            <a:srgbClr val="1E2761"/>
          </a:solidFill>
          <a:ln/>
        </p:spPr>
      </p:sp>
      <p:sp>
        <p:nvSpPr>
          <p:cNvPr id="5" name="Text 3"/>
          <p:cNvSpPr/>
          <p:nvPr/>
        </p:nvSpPr>
        <p:spPr>
          <a:xfrm>
            <a:off x="548640" y="1554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88720" y="1508760"/>
            <a:ext cx="1024128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 strong USP must match brand origin.</a:t>
            </a:r>
            <a:endParaRPr lang="en-US" sz="1500" dirty="0"/>
          </a:p>
        </p:txBody>
      </p:sp>
      <p:sp>
        <p:nvSpPr>
          <p:cNvPr id="7" name="Text 5"/>
          <p:cNvSpPr/>
          <p:nvPr/>
        </p:nvSpPr>
        <p:spPr>
          <a:xfrm>
            <a:off x="1188720" y="1874520"/>
            <a:ext cx="10241280" cy="5486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Zomato's discovery heritage and Swiggy's delivery-first roots each shaped a USP that plays to real strength, not a borrowed one.</a:t>
            </a:r>
            <a:endParaRPr lang="en-US" sz="1250" dirty="0"/>
          </a:p>
        </p:txBody>
      </p:sp>
      <p:sp>
        <p:nvSpPr>
          <p:cNvPr id="8" name="Shape 6"/>
          <p:cNvSpPr/>
          <p:nvPr/>
        </p:nvSpPr>
        <p:spPr>
          <a:xfrm>
            <a:off x="548640" y="2697480"/>
            <a:ext cx="457200" cy="457200"/>
          </a:xfrm>
          <a:prstGeom prst="roundRect">
            <a:avLst>
              <a:gd name="adj" fmla="val 12000"/>
            </a:avLst>
          </a:prstGeom>
          <a:solidFill>
            <a:srgbClr val="1E2761"/>
          </a:solidFill>
          <a:ln/>
        </p:spPr>
      </p:sp>
      <p:sp>
        <p:nvSpPr>
          <p:cNvPr id="9" name="Text 7"/>
          <p:cNvSpPr/>
          <p:nvPr/>
        </p:nvSpPr>
        <p:spPr>
          <a:xfrm>
            <a:off x="548640" y="2697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188720" y="2651760"/>
            <a:ext cx="1024128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Marketing voice is a genuine competitive asset.</a:t>
            </a:r>
            <a:endParaRPr lang="en-US" sz="1500" dirty="0"/>
          </a:p>
        </p:txBody>
      </p:sp>
      <p:sp>
        <p:nvSpPr>
          <p:cNvPr id="11" name="Text 9"/>
          <p:cNvSpPr/>
          <p:nvPr/>
        </p:nvSpPr>
        <p:spPr>
          <a:xfrm>
            <a:off x="1188720" y="3017520"/>
            <a:ext cx="10241280" cy="5486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Zomato's social media leadership lowers acquisition cost through organic reach money alone cannot buy.</a:t>
            </a:r>
            <a:endParaRPr lang="en-US" sz="1250" dirty="0"/>
          </a:p>
        </p:txBody>
      </p:sp>
      <p:sp>
        <p:nvSpPr>
          <p:cNvPr id="12" name="Shape 10"/>
          <p:cNvSpPr/>
          <p:nvPr/>
        </p:nvSpPr>
        <p:spPr>
          <a:xfrm>
            <a:off x="548640" y="3840480"/>
            <a:ext cx="457200" cy="457200"/>
          </a:xfrm>
          <a:prstGeom prst="roundRect">
            <a:avLst>
              <a:gd name="adj" fmla="val 12000"/>
            </a:avLst>
          </a:prstGeom>
          <a:solidFill>
            <a:srgbClr val="1E2761"/>
          </a:solidFill>
          <a:ln/>
        </p:spPr>
      </p:sp>
      <p:sp>
        <p:nvSpPr>
          <p:cNvPr id="13" name="Text 11"/>
          <p:cNvSpPr/>
          <p:nvPr/>
        </p:nvSpPr>
        <p:spPr>
          <a:xfrm>
            <a:off x="548640" y="3840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188720" y="3794760"/>
            <a:ext cx="1024128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Diversification builds resilience.</a:t>
            </a:r>
            <a:endParaRPr lang="en-US" sz="1500" dirty="0"/>
          </a:p>
        </p:txBody>
      </p:sp>
      <p:sp>
        <p:nvSpPr>
          <p:cNvPr id="15" name="Text 13"/>
          <p:cNvSpPr/>
          <p:nvPr/>
        </p:nvSpPr>
        <p:spPr>
          <a:xfrm>
            <a:off x="1188720" y="4160520"/>
            <a:ext cx="10241280" cy="5486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Hyperpure and Blinkit give Zomato independent growth engines; Instamart and Genie do the same for Swiggy.</a:t>
            </a:r>
            <a:endParaRPr lang="en-US" sz="1250" dirty="0"/>
          </a:p>
        </p:txBody>
      </p:sp>
      <p:sp>
        <p:nvSpPr>
          <p:cNvPr id="16" name="Shape 14"/>
          <p:cNvSpPr/>
          <p:nvPr/>
        </p:nvSpPr>
        <p:spPr>
          <a:xfrm>
            <a:off x="548640" y="4983480"/>
            <a:ext cx="457200" cy="457200"/>
          </a:xfrm>
          <a:prstGeom prst="roundRect">
            <a:avLst>
              <a:gd name="adj" fmla="val 12000"/>
            </a:avLst>
          </a:prstGeom>
          <a:solidFill>
            <a:srgbClr val="1E2761"/>
          </a:solidFill>
          <a:ln/>
        </p:spPr>
      </p:sp>
      <p:sp>
        <p:nvSpPr>
          <p:cNvPr id="17" name="Text 15"/>
          <p:cNvSpPr/>
          <p:nvPr/>
        </p:nvSpPr>
        <p:spPr>
          <a:xfrm>
            <a:off x="548640" y="4983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188720" y="4937760"/>
            <a:ext cx="1024128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Challengers should compete on their own strengths.</a:t>
            </a:r>
            <a:endParaRPr lang="en-US" sz="1500" dirty="0"/>
          </a:p>
        </p:txBody>
      </p:sp>
      <p:sp>
        <p:nvSpPr>
          <p:cNvPr id="19" name="Text 17"/>
          <p:cNvSpPr/>
          <p:nvPr/>
        </p:nvSpPr>
        <p:spPr>
          <a:xfrm>
            <a:off x="1188720" y="5303520"/>
            <a:ext cx="10241280" cy="5486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The most realistic path for a weaker brand is deepening its actual capability, not copying the leader's playbook.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1258</Words>
  <Application>Microsoft Office PowerPoint</Application>
  <PresentationFormat>Widescreen</PresentationFormat>
  <Paragraphs>129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SAMYAK JADHAV</cp:lastModifiedBy>
  <cp:revision>2</cp:revision>
  <dcterms:created xsi:type="dcterms:W3CDTF">2026-08-02T17:44:10Z</dcterms:created>
  <dcterms:modified xsi:type="dcterms:W3CDTF">2026-08-09T07:47:48Z</dcterms:modified>
</cp:coreProperties>
</file>