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82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6970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campaign's title slide, introducing 'One Click, One Consequence' — Task 9, Campaign Planning, prepared for Sanyukt Organisation by Bhavika Santosh Bhoir (SYKT.INT.1823). The phone mock-up sets the visual tone: a suspicious verification link, the exact moment the campaign is built around. Submitted to Divyanshi Katiyar, HR Coordinator.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India's fraud losses aren't abstract — MHA and I4C data puts 2025 losses at roughly ₹22,495 crore, across 2.8 million-plus complaints, with UPI fraud alone crossing ₹805 crore this financial year per government figures shared in Parliament. Every one of these numbers traces back to the same root cause: an unverified click. That's the behaviour gap this campaign is built to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measurable objectives anchor this as a real campaign, not just content for content's sake — reach, engagement, Reel completion, quiz interaction, and shares are each tied to a number. On audience: students and first-time UPI users are the primary target because they're most exposed and least trained; parents, professionals, and senior citizens are reached both directly and through family sharing.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creative engine of the whole campaign: every Reel, carousel, and poster contrasts DANGER — the unverified click — against SAFETY — the verified action. The refined CTA, 'PAUSE. VERIFY. THEN CLICK.', leads with a concrete verb and works equally well as a voiceover, a caption sign-off, or a poster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content mix is deliberate: Reels for reach, since Instagram's algorithm favours them; carousels for saves, because checklists are things people want to keep; and Stories, quizzes and WhatsApp sharing for the interaction and distribution layer that a small NGO account needs to compensate for limited organic reach.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seven days are sequenced to build a mini scam-literacy curriculum: launch, then phishing, OTP/UPI, an interactive check-in on day 4, job scams, an engagement-driving poll on day 6, and a recap that pushes the final CTA and the 1930 cybercrime helpline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Outcomes are framed as realistic directions, not guarantees. On measurement, shares and saves are weighted highest because they signal trust and usefulness, not just exposure; Story interaction rate is the closest thing this campaign has to a comprehension test; reach, impressions and overall engagement rate round out the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campaign closes on its own call to action: PAUSE. VERIFY. THEN CLICK. The four pillars — strategy, creativity, clarity, practicality — summarise why this plan meets the assignment brief, and the final line makes the point explicit: this is designed to be launched, not just presented.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914400"/>
            <a:ext cx="2651760" cy="5029200"/>
          </a:xfrm>
          <a:prstGeom prst="roundRect">
            <a:avLst>
              <a:gd name="adj" fmla="val 9655"/>
            </a:avLst>
          </a:prstGeom>
          <a:solidFill>
            <a:srgbClr val="12173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234440"/>
            <a:ext cx="2286000" cy="438912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189720" y="21945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3F3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8116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96167"/>
                </a:solidFill>
              </a:rPr>
              <a:t>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46920" y="228600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account will be blocked.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verify now: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bit.ly/verify-acc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189720" y="3337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message detected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9  •  CAMPAIGN PLANNING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7955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CLICK,
</a:t>
            </a:r>
            <a:r>
              <a:rPr lang="en-US" sz="4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CONSEQUENCE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Scam Awareness Campaign for Sanyukt Organisation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5029200" cy="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16052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Bhavika Santosh Bhoir
</a:t>
            </a: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ID: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SYKT.INT.1823
</a:t>
            </a: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Organization: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Sanyukt Organisation
</a:t>
            </a: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"ONE CLICK, ONE CONSEQUENCE"
</a:t>
            </a: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"Think Before You Click. Verify Before You Trust."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runs the world's largest real-time payments system — and that scale has become its biggest fraud surface. Behind almost every case is the same pattern: one rushed click, one unverified message, one moment of misplaced trust.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scam categories this campaign targets: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F2F4F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3657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links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11880" y="365760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F2F4FA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3657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scams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224528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F2F4F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2245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customer-care numbers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11880" y="4224528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F2F4FA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42245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QR-code scams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791456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F2F4F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79145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job/internship offers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11880" y="4791456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F2F4FA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0" y="479145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/ payment scams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5358384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F2F4F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535838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Impersonation scams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11880" y="5358384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F2F4FA"/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0" y="535838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investment offers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949440" y="1600200"/>
            <a:ext cx="4663440" cy="1417320"/>
          </a:xfrm>
          <a:prstGeom prst="roundRect">
            <a:avLst>
              <a:gd name="adj" fmla="val 7742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0" y="169164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₹22,495 Cr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132320" y="23774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cyber fraud in India in 2025 (MHA / I4C data)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49440" y="3154680"/>
            <a:ext cx="4663440" cy="1417320"/>
          </a:xfrm>
          <a:prstGeom prst="roundRect">
            <a:avLst>
              <a:gd name="adj" fmla="val 7742"/>
            </a:avLst>
          </a:prstGeom>
          <a:solidFill>
            <a:srgbClr val="F96167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0" y="324612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2.8M+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7132320" y="39319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cyber-fraud complaints filed in 2025, up sharply year-on-year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49440" y="4709160"/>
            <a:ext cx="4663440" cy="1234440"/>
          </a:xfrm>
          <a:prstGeom prst="roundRect">
            <a:avLst>
              <a:gd name="adj" fmla="val 8889"/>
            </a:avLst>
          </a:prstGeom>
          <a:solidFill>
            <a:srgbClr val="F2F4FA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0" y="477316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₹805 Cr+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132320" y="534924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UPI fraud losses this year alone (govt. data to Parliament)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6126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RBI, NPCI, Ministry of Home Affairs / I4C, Govt. of India (2025–26)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CLICK, ONE CONSEQUENCE  |  Sanyukt Organisation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9 — Bhavika Santosh Bhoir | SYKT.INT.1823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Target Audience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OBJECTIVES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8288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15,000+ unique accounts over 7 days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4144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414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39572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6%+ average engagement rate across posts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08376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083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96265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Reel plays with 40%+ completion rate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75304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5753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352958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quiz/poll interactions (comprehension check)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142232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1422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409651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organic shares to WhatsApp / Stories / DMs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1600200"/>
            <a:ext cx="0" cy="4617720"/>
          </a:xfrm>
          <a:prstGeom prst="line">
            <a:avLst/>
          </a:prstGeom>
          <a:noFill/>
          <a:ln w="19050">
            <a:solidFill>
              <a:srgbClr val="E0E0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75120" y="1874520"/>
            <a:ext cx="493776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19933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03720" y="2286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 •  Young adults  •  First-time UPI users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03720" y="269748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exposure to fake internship scams and QR/UPI fraud; least familiar with red flags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75120" y="3611880"/>
            <a:ext cx="4937760" cy="1371600"/>
          </a:xfrm>
          <a:prstGeom prst="roundRect">
            <a:avLst>
              <a:gd name="adj" fmla="val 6667"/>
            </a:avLst>
          </a:prstGeom>
          <a:solidFill>
            <a:srgbClr val="F2F4FA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37307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03720" y="4023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 •  Working professionals  •  Senior citizens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03720" y="440740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directly on Facebook, and indirectly when family shares campaign content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75120" y="5166360"/>
            <a:ext cx="4937760" cy="1051560"/>
          </a:xfrm>
          <a:prstGeom prst="roundRect">
            <a:avLst>
              <a:gd name="adj" fmla="val 8696"/>
            </a:avLst>
          </a:prstGeom>
          <a:solidFill>
            <a:srgbClr val="FFF3F3"/>
          </a:solidFill>
          <a:ln w="9525">
            <a:solidFill>
              <a:srgbClr val="F961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525780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Persona: “Aditi, 20” — new to UPI, applies for internships on Instagram, has never been taught how to verify a payment link or job offer.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CLICK, ONE CONSEQUENCE  |  Sanyukt Organisation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9 — Bhavika Santosh Bhoir | SYKT.INT.1823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Campaign Idea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careless click leads to real consequences. One moment of verification prevents them. Every piece of content shows this same contrast — DANGER vs SAFETY.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3A1620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505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DANGER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unverified click — fake link, fake caller, fake QR code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0F3D2E"/>
          </a:solidFill>
          <a:ln w="12700">
            <a:solidFill>
              <a:srgbClr val="3ED9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4505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SAFETY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46520" y="283464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verified action — one check, one call to the real number, one pause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977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TAGLINE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17520" y="3977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"Think Before You Click. Verify Before You Trust."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46360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17520" y="463600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PAUSE. VERIFY. THEN CLICK.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529437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17520" y="529437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#OneClickOneConsequence  •  #PauseVerifyClick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CLICK, ONE CONSEQUENCE  |  Sanyukt Organisation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9 — Bhavika Santosh Bhoir | SYKT.INT.1823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&amp; Marketing Strategy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2F4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Hook-first skits: OTP scam calls, phishing dramatizations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2F4FA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2971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Save-worthy checklists: phishing red flags, job-offer verification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2F4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75320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75320" y="2971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reshares + volunteer WhatsApp Status pickup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754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5120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“Spot the Scam” — real vs. fake, 5 rounds, instant reveal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384048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8F0"/>
          </a:solidFill>
          <a:ln/>
        </p:spPr>
      </p:sp>
      <p:sp>
        <p:nvSpPr>
          <p:cNvPr id="25" name="Shape 23"/>
          <p:cNvSpPr/>
          <p:nvPr/>
        </p:nvSpPr>
        <p:spPr>
          <a:xfrm>
            <a:off x="4526280" y="4069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26280" y="4754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Posters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26280" y="5120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recap: all 7 scam types as one shareable graphic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84048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8F0"/>
          </a:solidFill>
          <a:ln/>
        </p:spPr>
      </p:sp>
      <p:sp>
        <p:nvSpPr>
          <p:cNvPr id="30" name="Shape 28"/>
          <p:cNvSpPr/>
          <p:nvPr/>
        </p:nvSpPr>
        <p:spPr>
          <a:xfrm>
            <a:off x="8275320" y="4069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75320" y="4754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Sharing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75320" y="5120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+ community-group distribution layer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CLICK, ONE CONSEQUENCE  |  Sanyukt Organisation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9 — Bhavika Santosh Bhoir | SYKT.INT.1823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7-Day Execution Plan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1064240" cy="0"/>
          </a:xfrm>
          <a:prstGeom prst="line">
            <a:avLst/>
          </a:prstGeom>
          <a:noFill/>
          <a:ln w="25400">
            <a:solidFill>
              <a:srgbClr val="D8DC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7775" y="254203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7775" y="2542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148916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14891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1397726" cy="1325880"/>
          </a:xfrm>
          <a:prstGeom prst="roundRect">
            <a:avLst>
              <a:gd name="adj" fmla="val 5517"/>
            </a:avLst>
          </a:prstGeom>
          <a:solidFill>
            <a:srgbClr val="F2F4F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200400"/>
            <a:ext cx="121484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Click” launch Reel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18381" y="254203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8381" y="2542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74966" y="1691640"/>
            <a:ext cx="148916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74966" y="2011680"/>
            <a:ext cx="14891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20686" y="3108960"/>
            <a:ext cx="1397726" cy="1325880"/>
          </a:xfrm>
          <a:prstGeom prst="roundRect">
            <a:avLst>
              <a:gd name="adj" fmla="val 5517"/>
            </a:avLst>
          </a:prstGeom>
          <a:solidFill>
            <a:srgbClr val="F2F4FA"/>
          </a:solidFill>
          <a:ln/>
        </p:spPr>
      </p:sp>
      <p:sp>
        <p:nvSpPr>
          <p:cNvPr id="16" name="Text 14"/>
          <p:cNvSpPr/>
          <p:nvPr/>
        </p:nvSpPr>
        <p:spPr>
          <a:xfrm>
            <a:off x="2312126" y="3200400"/>
            <a:ext cx="121484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Red-flags carousel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98986" y="254203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8986" y="2542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55571" y="1691640"/>
            <a:ext cx="148916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55571" y="2011680"/>
            <a:ext cx="14891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/ UPI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01291" y="3108960"/>
            <a:ext cx="1397726" cy="1325880"/>
          </a:xfrm>
          <a:prstGeom prst="roundRect">
            <a:avLst>
              <a:gd name="adj" fmla="val 5517"/>
            </a:avLst>
          </a:prstGeom>
          <a:solidFill>
            <a:srgbClr val="F2F4FA"/>
          </a:solidFill>
          <a:ln/>
        </p:spPr>
      </p:sp>
      <p:sp>
        <p:nvSpPr>
          <p:cNvPr id="22" name="Text 20"/>
          <p:cNvSpPr/>
          <p:nvPr/>
        </p:nvSpPr>
        <p:spPr>
          <a:xfrm>
            <a:off x="3892731" y="3200400"/>
            <a:ext cx="121484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Scam-call Reel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79592" y="254203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79592" y="2542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36177" y="1691640"/>
            <a:ext cx="148916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36177" y="2011680"/>
            <a:ext cx="14891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81897" y="3108960"/>
            <a:ext cx="1397726" cy="1325880"/>
          </a:xfrm>
          <a:prstGeom prst="roundRect">
            <a:avLst>
              <a:gd name="adj" fmla="val 5517"/>
            </a:avLst>
          </a:prstGeom>
          <a:solidFill>
            <a:srgbClr val="F2F4FA"/>
          </a:solidFill>
          <a:ln/>
        </p:spPr>
      </p:sp>
      <p:sp>
        <p:nvSpPr>
          <p:cNvPr id="28" name="Text 26"/>
          <p:cNvSpPr/>
          <p:nvPr/>
        </p:nvSpPr>
        <p:spPr>
          <a:xfrm>
            <a:off x="5473337" y="3200400"/>
            <a:ext cx="121484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“Spot the Scam” quiz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60198" y="254203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60198" y="2542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16783" y="1691640"/>
            <a:ext cx="148916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16783" y="2011680"/>
            <a:ext cx="14891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Scams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962503" y="3108960"/>
            <a:ext cx="1397726" cy="1325880"/>
          </a:xfrm>
          <a:prstGeom prst="roundRect">
            <a:avLst>
              <a:gd name="adj" fmla="val 5517"/>
            </a:avLst>
          </a:prstGeom>
          <a:solidFill>
            <a:srgbClr val="F2F4FA"/>
          </a:solidFill>
          <a:ln/>
        </p:spPr>
      </p:sp>
      <p:sp>
        <p:nvSpPr>
          <p:cNvPr id="34" name="Text 32"/>
          <p:cNvSpPr/>
          <p:nvPr/>
        </p:nvSpPr>
        <p:spPr>
          <a:xfrm>
            <a:off x="7053943" y="3200400"/>
            <a:ext cx="121484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checklist carousel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040803" y="254203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40803" y="2542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497389" y="1691640"/>
            <a:ext cx="148916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497389" y="2011680"/>
            <a:ext cx="14891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543109" y="3108960"/>
            <a:ext cx="1397726" cy="1325880"/>
          </a:xfrm>
          <a:prstGeom prst="roundRect">
            <a:avLst>
              <a:gd name="adj" fmla="val 5517"/>
            </a:avLst>
          </a:prstGeom>
          <a:solidFill>
            <a:srgbClr val="F2F4FA"/>
          </a:solidFill>
          <a:ln/>
        </p:spPr>
      </p:sp>
      <p:sp>
        <p:nvSpPr>
          <p:cNvPr id="40" name="Text 38"/>
          <p:cNvSpPr/>
          <p:nvPr/>
        </p:nvSpPr>
        <p:spPr>
          <a:xfrm>
            <a:off x="8634549" y="3200400"/>
            <a:ext cx="121484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“Would You Click?” poll + reveal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0621409" y="2542032"/>
            <a:ext cx="402336" cy="402336"/>
          </a:xfrm>
          <a:prstGeom prst="ellipse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621409" y="2542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077994" y="1691640"/>
            <a:ext cx="148916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077994" y="2011680"/>
            <a:ext cx="14891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0123714" y="3108960"/>
            <a:ext cx="1397726" cy="1325880"/>
          </a:xfrm>
          <a:prstGeom prst="roundRect">
            <a:avLst>
              <a:gd name="adj" fmla="val 5517"/>
            </a:avLst>
          </a:prstGeom>
          <a:solidFill>
            <a:srgbClr val="F2F4FA"/>
          </a:solidFill>
          <a:ln/>
        </p:spPr>
      </p:sp>
      <p:sp>
        <p:nvSpPr>
          <p:cNvPr id="46" name="Text 44"/>
          <p:cNvSpPr/>
          <p:nvPr/>
        </p:nvSpPr>
        <p:spPr>
          <a:xfrm>
            <a:off x="10215154" y="3200400"/>
            <a:ext cx="121484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Reel + shareable poster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8640" y="4846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varies daily — Reel → carousel → Reel → quiz → carousel → poll → recap — so the 7 days build a complete scam-literacy curriculum without feeling repetitive.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CLICK, ONE CONSEQUENCE  |  Sanyukt Organisation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9 — Bhavika Santosh Bhoir | SYKT.INT.1823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&amp; KPIs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F2F4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Increased reach &amp; impressions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96312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F2F4F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9631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Strong Reel completion rate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18104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F2F4F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11810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Rise in shares &amp; saves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39896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F2F4F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73989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Active quiz/poll participation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361688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F2F4F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6168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Profile visits &amp; follower growth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55080" y="1600200"/>
            <a:ext cx="0" cy="4572000"/>
          </a:xfrm>
          <a:prstGeom prst="line">
            <a:avLst/>
          </a:prstGeom>
          <a:noFill/>
          <a:ln w="19050">
            <a:solidFill>
              <a:srgbClr val="E0E0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KPIs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75120" y="1874520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94767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&amp; Saves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0" y="2240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+ utility signal — top priority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75120" y="2651760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272491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Interaction Rate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58000" y="3017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proxy for comprehension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75120" y="3429000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350215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&amp; Impressions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58000" y="3794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exposure volume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75120" y="4206240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42793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5800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comparison across days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CLICK, ONE CONSEQUENCE  |  Sanyukt Organisation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9 — Bhavika Santosh Bhoir | SYKT.INT.1823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2173F"/>
          </a:solidFill>
          <a:ln w="9525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verified RBI / NPCI / MHA fraud data, not assumptions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6459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2173F"/>
          </a:solidFill>
          <a:ln w="9525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21945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danger/safety contrast runs through every format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6459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2173F"/>
          </a:solidFill>
          <a:ln w="9525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21945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3-word CTA the audience can recall under pressure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778240" y="16459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2173F"/>
          </a:solidFill>
          <a:ln w="9525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0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1120" y="21945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in 7 days by a small team, at near-zero cost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channel, tool, and resource in this plan is something Sanyukt Organisation could realistically launch this week — using its existing Instagram presence and volunteer network, at close to zero cost.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PAUSE. VERIFY. THEN CLICK.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#OneClickOneConsequence   •   Report fraud: cybercrime.gov.in / 1930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CLICK, ONE CONSEQUENCE  |  Sanyukt Organisation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9 — Bhavika Santosh Bhoir | SYKT.INT.1823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1441</Words>
  <Application>Microsoft Office PowerPoint</Application>
  <PresentationFormat>Widescreen</PresentationFormat>
  <Paragraphs>173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SAMYAK JADHAV</cp:lastModifiedBy>
  <cp:revision>2</cp:revision>
  <dcterms:created xsi:type="dcterms:W3CDTF">2026-08-22T09:10:48Z</dcterms:created>
  <dcterms:modified xsi:type="dcterms:W3CDTF">2026-08-22T09:24:00Z</dcterms:modified>
</cp:coreProperties>
</file>